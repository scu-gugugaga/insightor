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1" r:id="rId7"/>
    <p:sldId id="272" r:id="rId8"/>
    <p:sldId id="273" r:id="rId9"/>
    <p:sldId id="276" r:id="rId10"/>
    <p:sldId id="274" r:id="rId11"/>
    <p:sldId id="286" r:id="rId12"/>
    <p:sldId id="275" r:id="rId13"/>
    <p:sldId id="287" r:id="rId14"/>
    <p:sldId id="290" r:id="rId15"/>
    <p:sldId id="291" r:id="rId16"/>
    <p:sldId id="288" r:id="rId17"/>
    <p:sldId id="269" r:id="rId18"/>
    <p:sldId id="259" r:id="rId19"/>
    <p:sldId id="260" r:id="rId20"/>
    <p:sldId id="261" r:id="rId21"/>
    <p:sldId id="262" r:id="rId22"/>
    <p:sldId id="268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大家好，欢迎来到 Insightor 项目路演。我是今天的分享者。Insightor 是一款 AI 驱动的 GitHub PR 智能审查助手，覆盖 Web 控制台、VSCode 扩展和 CLI 命令行三个端。我们的目标是让 AI 读懂代码，让代码审查更智能、更高效、更可靠。接下来十五分钟，我将带大家从产品定义出发，逐层深入四大核心创新、技术架构，最后展示三端成果和未来规划。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今天的分享分为五个部分。首先我们会定义 Insightor 是什么，然后重点展开四大核心创新——这是项目已经落地的核心能力。接着看支撑这些创新的六层技术架构和 AI 引擎，再通过三端视频演示看到实际效果，最后展望未来路线图，包括尚未实现的分层上下文管线等攻坚方向。整个逻辑是开门见山、层层深入。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那么，Insightor 到底是什么？简单来说，你输入一个 GitHub PR 链接，Insightor 自动分析代码变更，生成多维度的审查报告，你确认后一键发布到 PR 评论区。整个过程 AI 做重活，人做决策。为什么需要 Insightor？因为 74% 的开发团队认为 PR 审查是交付瓶颈，人工审查耗时巨大、遗漏率高、标准因人而异。Insightor 提供三种使用方式：在浏览器里直接用 Web 控制台，在 IDE 里用 VSCode 扩展一键审查，或者在命令行里用 CLI 做自动化集成。三端覆盖，总有一种适合你的工作流。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那么，Insightor 到底是什么？简单来说，你输入一个 GitHub PR 链接，Insightor 自动分析代码变更，生成多维度的审查报告，你确认后一键发布到 PR 评论区。整个过程 AI 做重活，人做决策。为什么需要 Insightor？因为 74% 的开发团队认为 PR 审查是交付瓶颈，人工审查耗时巨大、遗漏率高、标准因人而异。Insightor 提供三种使用方式：在浏览器里直接用 Web 控制台，在 IDE 里用 VSCode 扩展一键审查，或者在命令行里用 CLI 做自动化集成。三端覆盖，总有一种适合你的工作流。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那么，Insightor 到底是什么？简单来说，你输入一个 GitHub PR 链接，Insightor 自动分析代码变更，生成多维度的审查报告，你确认后一键发布到 PR 评论区。整个过程 AI 做重活，人做决策。为什么需要 Insightor？因为 74% 的开发团队认为 PR 审查是交付瓶颈，人工审查耗时巨大、遗漏率高、标准因人而异。Insightor 提供三种使用方式：在浏览器里直接用 Web 控制台，在 IDE 里用 VSCode 扩展一键审查，或者在命令行里用 CLI 做自动化集成。三端覆盖，总有一种适合你的工作流。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那么，Insightor 到底是什么？简单来说，你输入一个 GitHub PR 链接，Insightor 自动分析代码变更，生成多维度的审查报告，你确认后一键发布到 PR 评论区。整个过程 AI 做重活，人做决策。为什么需要 Insightor？因为 74% 的开发团队认为 PR 审查是交付瓶颈，人工审查耗时巨大、遗漏率高、标准因人而异。Insightor 提供三种使用方式：在浏览器里直接用 Web 控制台，在 IDE 里用 VSCode 扩展一键审查，或者在命令行里用 CLI 做自动化集成。三端覆盖，总有一种适合你的工作流。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那么，Insightor 到底是什么？简单来说，你输入一个 GitHub PR 链接，Insightor 自动分析代码变更，生成多维度的审查报告，你确认后一键发布到 PR 评论区。整个过程 AI 做重活，人做决策。为什么需要 Insightor？因为 74% 的开发团队认为 PR 审查是交付瓶颈，人工审查耗时巨大、遗漏率高、标准因人而异。Insightor 提供三种使用方式：在浏览器里直接用 Web 控制台，在 IDE 里用 VSCode 扩展一键审查，或者在命令行里用 CLI 做自动化集成。三端覆盖，总有一种适合你的工作流。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那么，Insightor 到底是什么？简单来说，你输入一个 GitHub PR 链接，Insightor 自动分析代码变更，生成多维度的审查报告，你确认后一键发布到 PR 评论区。整个过程 AI 做重活，人做决策。为什么需要 Insightor？因为 74% 的开发团队认为 PR 审查是交付瓶颈，人工审查耗时巨大、遗漏率高、标准因人而异。Insightor 提供三种使用方式：在浏览器里直接用 Web 控制台，在 IDE 里用 VSCode 扩展一键审查，或者在命令行里用 CLI 做自动化集成。三端覆盖，总有一种适合你的工作流。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那么，Insightor 到底是什么？简单来说，你输入一个 GitHub PR 链接，Insightor 自动分析代码变更，生成多维度的审查报告，你确认后一键发布到 PR 评论区。整个过程 AI 做重活，人做决策。为什么需要 Insightor？因为 74% 的开发团队认为 PR 审查是交付瓶颈，人工审查耗时巨大、遗漏率高、标准因人而异。Insightor 提供三种使用方式：在浏览器里直接用 Web 控制台，在 IDE 里用 VSCode 扩展一键审查，或者在命令行里用 CLI 做自动化集成。三端覆盖，总有一种适合你的工作流。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那么，Insightor 到底是什么？简单来说，你输入一个 GitHub PR 链接，Insightor 自动分析代码变更，生成多维度的审查报告，你确认后一键发布到 PR 评论区。整个过程 AI 做重活，人做决策。为什么需要 Insightor？因为 74% 的开发团队认为 PR 审查是交付瓶颈，人工审查耗时巨大、遗漏率高、标准因人而异。Insightor 提供三种使用方式：在浏览器里直接用 Web 控制台，在 IDE 里用 VSCode 扩展一键审查，或者在命令行里用 CLI 做自动化集成。三端覆盖，总有一种适合你的工作流。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那么，Insightor 到底是什么？简单来说，你输入一个 GitHub PR 链接，Insightor 自动分析代码变更，生成多维度的审查报告，你确认后一键发布到 PR 评论区。整个过程 AI 做重活，人做决策。为什么需要 Insightor？因为 74% 的开发团队认为 PR 审查是交付瓶颈，人工审查耗时巨大、遗漏率高、标准因人而异。Insightor 提供三种使用方式：在浏览器里直接用 Web 控制台，在 IDE 里用 VSCode 扩展一键审查，或者在命令行里用 CLI 做自动化集成。三端覆盖，总有一种适合你的工作流。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那么，Insightor 到底是什么？简单来说，你输入一个 GitHub PR 链接，Insightor 自动分析代码变更，生成多维度的审查报告，你确认后一键发布到 PR 评论区。整个过程 AI 做重活，人做决策。为什么需要 Insightor？因为 74% 的开发团队认为 PR 审查是交付瓶颈，人工审查耗时巨大、遗漏率高、标准因人而异。Insightor 提供三种使用方式：在浏览器里直接用 Web 控制台，在 IDE 里用 VSCode 扩展一键审查，或者在命令行里用 CLI 做自动化集成。三端覆盖，总有一种适合你的工作流。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那么，Insightor 到底是什么？简单来说，你输入一个 GitHub PR 链接，Insightor 自动分析代码变更，生成多维度的审查报告，你确认后一键发布到 PR 评论区。整个过程 AI 做重活，人做决策。为什么需要 Insightor？因为 74% 的开发团队认为 PR 审查是交付瓶颈，人工审查耗时巨大、遗漏率高、标准因人而异。Insightor 提供三种使用方式：在浏览器里直接用 Web 控制台，在 IDE 里用 VSCode 扩展一键审查，或者在命令行里用 CLI 做自动化集成。三端覆盖，总有一种适合你的工作流。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那么，Insightor 到底是什么？简单来说，你输入一个 GitHub PR 链接，Insightor 自动分析代码变更，生成多维度的审查报告，你确认后一键发布到 PR 评论区。整个过程 AI 做重活，人做决策。为什么需要 Insightor？因为 74% 的开发团队认为 PR 审查是交付瓶颈，人工审查耗时巨大、遗漏率高、标准因人而异。Insightor 提供三种使用方式：在浏览器里直接用 Web 控制台，在 IDE 里用 VSCode 扩展一键审查，或者在命令行里用 CLI 做自动化集成。三端覆盖，总有一种适合你的工作流。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支撑这一切的是一套六层分层架构。从底层的环境感知和配置管理，到入口层的 CLI 和 Web 双入口，数据获取层对接 Git 和上下文服务，数据处理层做文件过滤和 Token 估算，核心的 AI 引擎层通过 LiteLLM 实现双路径路由和多模型 Fallback，最后输出层负责格式化、指纹去重、反馈收集和质量统计。AI 引擎有四个关键技术：流式增量解析让用户在 Web 端实时看到审查进度，Fallback 链确保 API 故障时零中断切换，SelfReflector 在深度模式下做二次校验降低误报，Prompt 模板引擎通过 Jinja2 和 TOML 灵活注入团队规范。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Insightor 目前已落地的核心创新有四项。第一，Diff 智能压缩通过四级策略从 Level 0 的全量 Diff 逐级裁剪到 Level 3 的骨架级，Token 从一万六降到三千，降幅超过百分之八十。第二，Commit 级缓存以 commit SHA 为 key，同一 commit 的多次请求直接返回缓存结果，命中时零延迟、完全跳过 AI 调用。第三，人机协同让 AI 生成草稿、人类确认发布，通过 finding-id 精确追踪每一个发现，形成五步闭环。第四，合并就绪评分从零到一百量化 PR 质量，配合 QualityTracker 的历史统计形成持续改进的反馈闭环。接下来我们逐一展开。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前两项创新共同组成了智能优化引擎，解决 Token 消耗和重复调用的核心痛点。Diff 压缩方面，Level 0 全量 Diff 约一万六千 tokens，Level 1 剥离纯删除型 hunk 降到一万二，Level 2 通过贪心打包优先选择主语言文件降到八千，Level 3 激进裁剪每个 hunk 仅保留前十行，做到三千 tokens。Commit 缓存从另一个维度优化——查询缓存、命中直接返回、未命中才走 AI 分析。两者叠加，让 Insightor 在保证审查质量的同时大幅降低成本。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第三项创新是人机协同。五步闭环工作流：输入 PR 后 AI 自动分析，生成三段式 Markdown 草稿包含总结、风险和逐条审查意见，每个 finding 嵌入 UUID 精确追踪。开发者打开草稿逐条勾选反馈——确认有效、误报、已修复或忽略——最后一键发布到 GitHub PR 评论区。每次发布后 QualityTracker 自动收集反馈，形成持续优化的数据基础。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第四项创新是数据驱动的决策体系。MergeReadiness 评分从零到一百，critical 扣三十分、high 扣十分，存在 critical 或 high 超过三个自动阻断。推荐的合并动作有 safe_to_merge、needs_review、needs_work、blocked 四档。QualityTracker 从每次发布中收集开发者反馈，按类别统计准确率——security 达到百分之八十八，performance 百分之七十五，logic 百分之六十二。基于历史数据动态校准 AI 置信度，误报率高的类别自动降权，形成自我改进的正向循环。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 Insightor 的完整介绍。欢迎各位通过屏幕上的链接访问我们的 Web 控制台、GitHub 仓库和 Demo 视频。现在是问答环节，请各位专家和老师提出宝贵意见。谢谢！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19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293B">
                  <a:alpha val="15000"/>
                </a:srgbClr>
              </a:gs>
              <a:gs pos="45000">
                <a:srgbClr val="1E293B">
                  <a:alpha val="45000"/>
                </a:srgbClr>
              </a:gs>
              <a:gs pos="100000">
                <a:srgbClr val="1E293B">
                  <a:alpha val="88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952750"/>
            <a:ext cx="12192000" cy="28575"/>
          </a:xfrm>
          <a:prstGeom prst="rect">
            <a:avLst/>
          </a:prstGeom>
          <a:gradFill>
            <a:gsLst>
              <a:gs pos="0">
                <a:srgbClr val="10B981">
                  <a:alpha val="0"/>
                </a:srgbClr>
              </a:gs>
              <a:gs pos="50000">
                <a:srgbClr val="10B981">
                  <a:alpha val="90000"/>
                </a:srgbClr>
              </a:gs>
              <a:gs pos="100000">
                <a:srgbClr val="10B981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094988" y="2065020"/>
            <a:ext cx="4002024" cy="1454468"/>
            <a:chOff x="4094988" y="2065020"/>
            <a:chExt cx="4002024" cy="1454468"/>
          </a:xfrm>
        </p:grpSpPr>
        <p:sp>
          <p:nvSpPr>
            <p:cNvPr id="5" name="TextBox 5"/>
            <p:cNvSpPr txBox="1"/>
            <p:nvPr/>
          </p:nvSpPr>
          <p:spPr>
            <a:xfrm>
              <a:off x="4345110" y="2065020"/>
              <a:ext cx="3501781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Insightor</a:t>
              </a:r>
              <a:endParaRPr lang="zh-CN" sz="54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094988" y="3123248"/>
              <a:ext cx="400202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10B98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AI 驱动的 GitHub PR 智能审查助手</a:t>
              </a:r>
              <a:endParaRPr lang="zh-CN" sz="1950" dirty="0">
                <a:solidFill>
                  <a:srgbClr val="10B98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001298" y="3862864"/>
            <a:ext cx="4189405" cy="578167"/>
            <a:chOff x="4001298" y="3862864"/>
            <a:chExt cx="4189405" cy="578167"/>
          </a:xfrm>
        </p:grpSpPr>
        <p:sp>
          <p:nvSpPr>
            <p:cNvPr id="8" name="TextBox 8"/>
            <p:cNvSpPr txBox="1"/>
            <p:nvPr/>
          </p:nvSpPr>
          <p:spPr>
            <a:xfrm>
              <a:off x="4001298" y="3862864"/>
              <a:ext cx="41894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Web 控制台 · VSCode 扩展 · CLI 命令行 —— 三端全覆盖</a:t>
              </a:r>
              <a:endParaRPr lang="zh-CN" sz="1275" dirty="0">
                <a:solidFill>
                  <a:srgbClr val="94A3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22743" y="4212431"/>
              <a:ext cx="35465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让 AI 读懂你的代码，让审查更智能、更高效、更可靠</a:t>
              </a:r>
              <a:endParaRPr lang="zh-CN" sz="1125" dirty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11" name="Rectangle 11"/>
            <p:cNvSpPr/>
            <p:nvPr/>
          </p:nvSpPr>
          <p:spPr>
            <a:xfrm>
              <a:off x="0" y="6477000"/>
              <a:ext cx="12192000" cy="381000"/>
            </a:xfrm>
            <a:prstGeom prst="rect">
              <a:avLst/>
            </a:prstGeom>
            <a:solidFill>
              <a:srgbClr val="0F172A">
                <a:alpha val="8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9118" y="66193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项目路演展示</a:t>
              </a:r>
              <a:endParaRPr lang="zh-CN" sz="975" dirty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0540" y="6619399"/>
              <a:ext cx="6423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2026年6月</a:t>
              </a:r>
              <a:endParaRPr lang="zh-CN" sz="975" dirty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115820" y="5035550"/>
            <a:ext cx="3579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</a:rPr>
              <a:t>项目成员：卿芸玮、张航玮</a:t>
            </a:r>
            <a:endParaRPr lang="zh-CN" alt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670114" cy="571500"/>
            <a:chOff x="762000" y="533400"/>
            <a:chExt cx="1670114" cy="57150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47625" cy="571500"/>
            </a:xfrm>
            <a:prstGeom prst="roundRect">
              <a:avLst>
                <a:gd name="adj" fmla="val 50000"/>
              </a:avLst>
            </a:prstGeom>
            <a:solidFill>
              <a:srgbClr val="1A56D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9165" y="54387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汇报大纲</a:t>
              </a:r>
              <a:endParaRPr lang="zh-CN" sz="25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7" name="Line 7"/>
          <p:cNvSpPr/>
          <p:nvPr/>
        </p:nvSpPr>
        <p:spPr>
          <a:xfrm>
            <a:off x="762000" y="147637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sp>
        <p:nvSpPr>
          <p:cNvPr id="8" name="Line 8"/>
          <p:cNvSpPr/>
          <p:nvPr/>
        </p:nvSpPr>
        <p:spPr>
          <a:xfrm>
            <a:off x="1238250" y="2000250"/>
            <a:ext cx="9525" cy="3905250"/>
          </a:xfrm>
          <a:custGeom>
            <a:avLst/>
            <a:gdLst/>
            <a:ahLst/>
            <a:cxnLst/>
            <a:rect l="l" t="t" r="r" b="b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28575" cap="rnd">
            <a:gradFill>
              <a:gsLst>
                <a:gs pos="0">
                  <a:srgbClr val="1A56DB"/>
                </a:gs>
                <a:gs pos="100000">
                  <a:srgbClr val="8B5CF6"/>
                </a:gs>
              </a:gsLst>
              <a:lin ang="5400000" scaled="1"/>
            </a:gradFill>
          </a:ln>
        </p:spPr>
      </p:sp>
      <p:grpSp>
        <p:nvGrpSpPr>
          <p:cNvPr id="13" name="Group 13"/>
          <p:cNvGrpSpPr/>
          <p:nvPr/>
        </p:nvGrpSpPr>
        <p:grpSpPr>
          <a:xfrm>
            <a:off x="990600" y="2088832"/>
            <a:ext cx="2700020" cy="501968"/>
            <a:chOff x="990600" y="2088832"/>
            <a:chExt cx="2700020" cy="501968"/>
          </a:xfrm>
        </p:grpSpPr>
        <p:sp>
          <p:nvSpPr>
            <p:cNvPr id="9" name="Ellipse 9"/>
            <p:cNvSpPr/>
            <p:nvPr/>
          </p:nvSpPr>
          <p:spPr>
            <a:xfrm>
              <a:off x="990600" y="209550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A56D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1601" y="2289810"/>
              <a:ext cx="1732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56D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01</a:t>
              </a:r>
              <a:endParaRPr lang="zh-CN" sz="1200" b="1" dirty="0">
                <a:solidFill>
                  <a:srgbClr val="1A56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88795" y="2088832"/>
              <a:ext cx="188595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需求分析和项目介绍</a:t>
              </a:r>
              <a:endParaRPr lang="zh-CN" sz="16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96415" y="2420302"/>
              <a:ext cx="189420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Insightor 是什么，能解决</a:t>
              </a:r>
              <a:r>
                <a:rPr lang="zh-CN" sz="105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什么？</a:t>
              </a:r>
              <a:endParaRPr lang="zh-CN" sz="105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9645" y="3422967"/>
            <a:ext cx="1636395" cy="501968"/>
            <a:chOff x="990600" y="2946082"/>
            <a:chExt cx="1636395" cy="501968"/>
          </a:xfrm>
        </p:grpSpPr>
        <p:sp>
          <p:nvSpPr>
            <p:cNvPr id="14" name="Ellipse 14"/>
            <p:cNvSpPr/>
            <p:nvPr/>
          </p:nvSpPr>
          <p:spPr>
            <a:xfrm>
              <a:off x="990600" y="29527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0B98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0598" y="3147060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0B98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02</a:t>
              </a:r>
              <a:endParaRPr lang="zh-CN" sz="1200" b="1" dirty="0">
                <a:solidFill>
                  <a:srgbClr val="10B98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88795" y="2946082"/>
              <a:ext cx="838200" cy="2508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  <a:sym typeface="+mn-ea"/>
                </a:rPr>
                <a:t>技术架构</a:t>
              </a:r>
              <a:endParaRPr lang="zh-CN" sz="16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  <a:p>
              <a:pPr algn="l"/>
              <a:endParaRPr lang="zh-CN" sz="16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96415" y="3277552"/>
              <a:ext cx="50863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  <a:sym typeface="+mn-ea"/>
                </a:rPr>
                <a:t>6层架构 </a:t>
              </a:r>
              <a:endParaRPr lang="zh-CN" sz="105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9645" y="4660582"/>
            <a:ext cx="3796030" cy="654050"/>
            <a:chOff x="990600" y="3803332"/>
            <a:chExt cx="3796030" cy="654050"/>
          </a:xfrm>
        </p:grpSpPr>
        <p:sp>
          <p:nvSpPr>
            <p:cNvPr id="19" name="Ellipse 19"/>
            <p:cNvSpPr/>
            <p:nvPr/>
          </p:nvSpPr>
          <p:spPr>
            <a:xfrm>
              <a:off x="990600" y="381000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59E0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0598" y="4004310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59E0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03</a:t>
              </a:r>
              <a:endParaRPr lang="zh-CN" sz="1200" b="1" dirty="0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88795" y="3803332"/>
              <a:ext cx="83820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  <a:sym typeface="+mn-ea"/>
                </a:rPr>
                <a:t>核心创新</a:t>
              </a:r>
              <a:endParaRPr lang="zh-CN" sz="16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96415" y="4134802"/>
              <a:ext cx="2990215" cy="322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  <a:sym typeface="+mn-ea"/>
                </a:rPr>
                <a:t>4大创新：Diff压缩 · </a:t>
              </a:r>
              <a:r>
                <a:rPr lang="zh-CN" sz="105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  <a:sym typeface="+mn-ea"/>
                </a:rPr>
                <a:t>智能缓存 · 人机协同 · 质量</a:t>
              </a:r>
              <a:r>
                <a:rPr lang="zh-CN" sz="105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  <a:sym typeface="+mn-ea"/>
                </a:rPr>
                <a:t>追踪</a:t>
              </a:r>
              <a:endParaRPr lang="zh-CN" sz="105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  <a:p>
              <a:pPr algn="l"/>
              <a:endParaRPr lang="zh-CN" sz="105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34" name="Rectangle 34"/>
          <p:cNvSpPr/>
          <p:nvPr/>
        </p:nvSpPr>
        <p:spPr>
          <a:xfrm>
            <a:off x="762000" y="6381750"/>
            <a:ext cx="106680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62000" y="381000"/>
            <a:ext cx="3690620" cy="457200"/>
            <a:chOff x="762000" y="381000"/>
            <a:chExt cx="3690620" cy="457200"/>
          </a:xfrm>
        </p:grpSpPr>
        <p:sp>
          <p:nvSpPr>
            <p:cNvPr id="3" name="Rectangle 3"/>
            <p:cNvSpPr/>
            <p:nvPr/>
          </p:nvSpPr>
          <p:spPr>
            <a:xfrm>
              <a:off x="762000" y="381000"/>
              <a:ext cx="47625" cy="457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6DB"/>
                </a:gs>
                <a:gs pos="100000">
                  <a:srgbClr val="8B5CF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42975" y="404812"/>
              <a:ext cx="350964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Insightor：</a:t>
              </a:r>
              <a:r>
                <a:rPr lang="en-US" altLang="zh-CN" sz="22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AI</a:t>
              </a:r>
              <a:r>
                <a:rPr lang="zh-CN" sz="22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代码审查</a:t>
              </a:r>
              <a:r>
                <a:rPr lang="zh-CN" sz="22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助手</a:t>
              </a:r>
              <a:endParaRPr lang="zh-CN" sz="22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143000"/>
            <a:ext cx="10668000" cy="647700"/>
            <a:chOff x="762000" y="1143000"/>
            <a:chExt cx="10668000" cy="647700"/>
          </a:xfrm>
        </p:grpSpPr>
        <p:sp>
          <p:nvSpPr>
            <p:cNvPr id="7" name="Rectangle 7"/>
            <p:cNvSpPr/>
            <p:nvPr/>
          </p:nvSpPr>
          <p:spPr>
            <a:xfrm>
              <a:off x="762000" y="1143000"/>
              <a:ext cx="10668000" cy="647700"/>
            </a:xfrm>
            <a:prstGeom prst="roundRect">
              <a:avLst>
                <a:gd name="adj" fmla="val 11765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635395" y="1228725"/>
              <a:ext cx="49212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56D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Insightor 是一款 AI 驱动的 GitHub PR 智能审查助手</a:t>
              </a:r>
              <a:endParaRPr lang="zh-CN" sz="1500" b="1" dirty="0">
                <a:solidFill>
                  <a:srgbClr val="1A56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80890" y="1544002"/>
              <a:ext cx="44302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输入 PR 链接 → AI 自动分析 → 生成多维审查报告 → 人工确认 → 一键发布</a:t>
              </a:r>
              <a:endParaRPr lang="zh-CN" sz="105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2038350"/>
            <a:ext cx="10402570" cy="1673225"/>
            <a:chOff x="762000" y="1981200"/>
            <a:chExt cx="10668000" cy="590550"/>
          </a:xfrm>
        </p:grpSpPr>
        <p:sp>
          <p:nvSpPr>
            <p:cNvPr id="11" name="Rectangle 11"/>
            <p:cNvSpPr/>
            <p:nvPr/>
          </p:nvSpPr>
          <p:spPr>
            <a:xfrm>
              <a:off x="762000" y="1981200"/>
              <a:ext cx="10668000" cy="590550"/>
            </a:xfrm>
            <a:prstGeom prst="roundRect">
              <a:avLst>
                <a:gd name="adj" fmla="val 12903"/>
              </a:avLst>
            </a:prstGeom>
            <a:solidFill>
              <a:srgbClr val="FEF2F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127" y="2077346"/>
              <a:ext cx="1223610" cy="867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DC2626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需求分析</a:t>
              </a:r>
              <a:endParaRPr lang="en-US" altLang="zh-CN" sz="1600" b="1" dirty="0">
                <a:solidFill>
                  <a:srgbClr val="DC262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53454" y="2204197"/>
              <a:ext cx="10270115" cy="3077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indent="457200" algn="ctr"/>
              <a:r>
                <a:rPr lang="zh-CN" altLang="en-US" sz="1600" dirty="0">
                  <a:solidFill>
                    <a:srgbClr val="7F1D1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变更总结：自动生成 </a:t>
              </a:r>
              <a:r>
                <a:rPr lang="en-US" altLang="zh-CN" sz="1600" dirty="0">
                  <a:solidFill>
                    <a:srgbClr val="7F1D1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PR </a:t>
              </a:r>
              <a:r>
                <a:rPr lang="zh-CN" altLang="en-US" sz="1600" dirty="0">
                  <a:solidFill>
                    <a:srgbClr val="7F1D1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代码变更的整体概述与总结。</a:t>
              </a:r>
              <a:endParaRPr lang="en-US" altLang="zh-CN" sz="1600" dirty="0">
                <a:solidFill>
                  <a:srgbClr val="7F1D1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  <a:p>
              <a:pPr indent="457200" algn="ctr"/>
              <a:r>
                <a:rPr lang="zh-CN" altLang="en-US" sz="1600" dirty="0">
                  <a:solidFill>
                    <a:srgbClr val="7F1D1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风险识别：智能分析并识别代码中潜在的风险、漏洞或不良实践。</a:t>
              </a:r>
              <a:endParaRPr lang="en-US" altLang="zh-CN" sz="1600" dirty="0">
                <a:solidFill>
                  <a:srgbClr val="7F1D1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  <a:p>
              <a:pPr indent="457200" algn="ctr"/>
              <a:r>
                <a:rPr lang="zh-CN" altLang="en-US" sz="1600" dirty="0">
                  <a:solidFill>
                    <a:srgbClr val="7F1D1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建议生成：针对发现的问题，自动生成具体的 </a:t>
              </a:r>
              <a:r>
                <a:rPr lang="en-US" altLang="zh-CN" sz="1600" dirty="0">
                  <a:solidFill>
                    <a:srgbClr val="7F1D1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Review </a:t>
              </a:r>
              <a:r>
                <a:rPr lang="zh-CN" altLang="en-US" sz="1600" dirty="0">
                  <a:solidFill>
                    <a:srgbClr val="7F1D1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改进建议。</a:t>
              </a:r>
              <a:endParaRPr lang="zh-CN" altLang="en-US" sz="1600" dirty="0">
                <a:solidFill>
                  <a:srgbClr val="7F1D1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15" name="Line 15"/>
          <p:cNvSpPr/>
          <p:nvPr/>
        </p:nvSpPr>
        <p:spPr>
          <a:xfrm>
            <a:off x="741045" y="397319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5671876" y="4314190"/>
            <a:ext cx="4814394" cy="478631"/>
            <a:chOff x="953826" y="3038475"/>
            <a:chExt cx="4814394" cy="478631"/>
          </a:xfrm>
        </p:grpSpPr>
        <p:grpSp>
          <p:nvGrpSpPr>
            <p:cNvPr id="20" name="Group 20"/>
            <p:cNvGrpSpPr/>
            <p:nvPr/>
          </p:nvGrpSpPr>
          <p:grpSpPr>
            <a:xfrm>
              <a:off x="953826" y="3067050"/>
              <a:ext cx="340247" cy="342900"/>
              <a:chOff x="953826" y="3067050"/>
              <a:chExt cx="340247" cy="3429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53826" y="3137945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31242" y="0"/>
                    </a:moveTo>
                    <a:cubicBezTo>
                      <a:pt x="14713" y="22790"/>
                      <a:pt x="3656" y="49808"/>
                      <a:pt x="0" y="79124"/>
                    </a:cubicBezTo>
                    <a:lnTo>
                      <a:pt x="340247" y="79124"/>
                    </a:lnTo>
                    <a:cubicBezTo>
                      <a:pt x="336591" y="49808"/>
                      <a:pt x="325534" y="22790"/>
                      <a:pt x="309005" y="0"/>
                    </a:cubicBezTo>
                    <a:cubicBezTo>
                      <a:pt x="308113" y="499"/>
                      <a:pt x="307209" y="998"/>
                      <a:pt x="306294" y="1498"/>
                    </a:cubicBezTo>
                    <a:cubicBezTo>
                      <a:pt x="274460" y="18861"/>
                      <a:pt x="228084" y="36261"/>
                      <a:pt x="170123" y="36261"/>
                    </a:cubicBezTo>
                    <a:cubicBezTo>
                      <a:pt x="112162" y="36261"/>
                      <a:pt x="65785" y="18861"/>
                      <a:pt x="33952" y="1498"/>
                    </a:cubicBezTo>
                    <a:cubicBezTo>
                      <a:pt x="33037" y="999"/>
                      <a:pt x="32134" y="499"/>
                      <a:pt x="31242" y="0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15588" y="3067050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216722" y="38579"/>
                    </a:moveTo>
                    <a:cubicBezTo>
                      <a:pt x="190045" y="51981"/>
                      <a:pt x="153314" y="64294"/>
                      <a:pt x="108361" y="64294"/>
                    </a:cubicBezTo>
                    <a:cubicBezTo>
                      <a:pt x="63409" y="64294"/>
                      <a:pt x="26679" y="51981"/>
                      <a:pt x="0" y="38579"/>
                    </a:cubicBezTo>
                    <a:cubicBezTo>
                      <a:pt x="29534" y="14464"/>
                      <a:pt x="67259" y="0"/>
                      <a:pt x="108362" y="0"/>
                    </a:cubicBezTo>
                    <a:cubicBezTo>
                      <a:pt x="149464" y="0"/>
                      <a:pt x="187188" y="14464"/>
                      <a:pt x="216722" y="38579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53826" y="3259931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0" y="0"/>
                    </a:moveTo>
                    <a:cubicBezTo>
                      <a:pt x="3656" y="29316"/>
                      <a:pt x="14713" y="56334"/>
                      <a:pt x="31242" y="79124"/>
                    </a:cubicBezTo>
                    <a:cubicBezTo>
                      <a:pt x="32134" y="78625"/>
                      <a:pt x="33037" y="78125"/>
                      <a:pt x="33952" y="77626"/>
                    </a:cubicBezTo>
                    <a:cubicBezTo>
                      <a:pt x="65786" y="60263"/>
                      <a:pt x="112163" y="42862"/>
                      <a:pt x="170124" y="42862"/>
                    </a:cubicBezTo>
                    <a:cubicBezTo>
                      <a:pt x="228084" y="42862"/>
                      <a:pt x="274462" y="60263"/>
                      <a:pt x="306294" y="77626"/>
                    </a:cubicBezTo>
                    <a:cubicBezTo>
                      <a:pt x="307211" y="78125"/>
                      <a:pt x="308113" y="78625"/>
                      <a:pt x="309005" y="79124"/>
                    </a:cubicBezTo>
                    <a:cubicBezTo>
                      <a:pt x="325534" y="56334"/>
                      <a:pt x="336591" y="29316"/>
                      <a:pt x="34024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15589" y="3345656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108361" y="64294"/>
                    </a:moveTo>
                    <a:cubicBezTo>
                      <a:pt x="67259" y="64294"/>
                      <a:pt x="29534" y="49830"/>
                      <a:pt x="0" y="25715"/>
                    </a:cubicBezTo>
                    <a:cubicBezTo>
                      <a:pt x="26679" y="12312"/>
                      <a:pt x="63409" y="0"/>
                      <a:pt x="108361" y="0"/>
                    </a:cubicBezTo>
                    <a:cubicBezTo>
                      <a:pt x="153313" y="0"/>
                      <a:pt x="190044" y="12312"/>
                      <a:pt x="216722" y="25715"/>
                    </a:cubicBezTo>
                    <a:cubicBezTo>
                      <a:pt x="187188" y="49830"/>
                      <a:pt x="149464" y="64294"/>
                      <a:pt x="108361" y="64294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466850" y="3038475"/>
              <a:ext cx="11197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56D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Web 控制台</a:t>
              </a:r>
              <a:endParaRPr lang="zh-CN" sz="1500" b="1" dirty="0">
                <a:solidFill>
                  <a:srgbClr val="1A56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71612" y="3288506"/>
              <a:ext cx="42966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浏览器直接使用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实时流式进度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可视化结果展示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多用户支持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70550" y="5038090"/>
            <a:ext cx="5175765" cy="478631"/>
            <a:chOff x="952500" y="3762375"/>
            <a:chExt cx="5175765" cy="478631"/>
          </a:xfrm>
        </p:grpSpPr>
        <p:grpSp>
          <p:nvGrpSpPr>
            <p:cNvPr id="27" name="Group 27"/>
            <p:cNvGrpSpPr/>
            <p:nvPr/>
          </p:nvGrpSpPr>
          <p:grpSpPr>
            <a:xfrm>
              <a:off x="952500" y="3809350"/>
              <a:ext cx="342900" cy="306099"/>
              <a:chOff x="952500" y="3809350"/>
              <a:chExt cx="342900" cy="30609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081303" y="3809350"/>
                <a:ext cx="85294" cy="306099"/>
              </a:xfrm>
              <a:custGeom>
                <a:avLst/>
                <a:gdLst/>
                <a:ahLst/>
                <a:cxnLst/>
                <a:rect l="l" t="t" r="r" b="b"/>
                <a:pathLst>
                  <a:path w="85294" h="306099">
                    <a:moveTo>
                      <a:pt x="42863" y="0"/>
                    </a:moveTo>
                    <a:lnTo>
                      <a:pt x="0" y="300038"/>
                    </a:lnTo>
                    <a:lnTo>
                      <a:pt x="42432" y="306099"/>
                    </a:lnTo>
                    <a:lnTo>
                      <a:pt x="85294" y="6062"/>
                    </a:lnTo>
                    <a:lnTo>
                      <a:pt x="42863" y="0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190083" y="3887391"/>
                <a:ext cx="105317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05317" h="150019">
                    <a:moveTo>
                      <a:pt x="30308" y="150019"/>
                    </a:moveTo>
                    <a:lnTo>
                      <a:pt x="0" y="119711"/>
                    </a:lnTo>
                    <a:lnTo>
                      <a:pt x="44701" y="75009"/>
                    </a:lnTo>
                    <a:lnTo>
                      <a:pt x="0" y="30309"/>
                    </a:lnTo>
                    <a:lnTo>
                      <a:pt x="30308" y="0"/>
                    </a:lnTo>
                    <a:lnTo>
                      <a:pt x="105317" y="75009"/>
                    </a:lnTo>
                    <a:lnTo>
                      <a:pt x="30308" y="150019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52500" y="3887391"/>
                <a:ext cx="10531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05318" h="150019">
                    <a:moveTo>
                      <a:pt x="60617" y="75009"/>
                    </a:moveTo>
                    <a:lnTo>
                      <a:pt x="105318" y="119711"/>
                    </a:lnTo>
                    <a:lnTo>
                      <a:pt x="75009" y="150019"/>
                    </a:lnTo>
                    <a:lnTo>
                      <a:pt x="0" y="75009"/>
                    </a:lnTo>
                    <a:lnTo>
                      <a:pt x="75009" y="0"/>
                    </a:lnTo>
                    <a:lnTo>
                      <a:pt x="105318" y="30309"/>
                    </a:lnTo>
                    <a:lnTo>
                      <a:pt x="60617" y="75009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466850" y="3762375"/>
              <a:ext cx="1214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B98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VSCode 扩展</a:t>
              </a:r>
              <a:endParaRPr lang="zh-CN" sz="1500" b="1" dirty="0">
                <a:solidFill>
                  <a:srgbClr val="10B98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71612" y="4012406"/>
              <a:ext cx="4656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IDE内一键审查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侧边栏查看结果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一键应用代码建议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无缝开发体验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687539" y="5761990"/>
            <a:ext cx="4843737" cy="478631"/>
            <a:chOff x="969489" y="4486275"/>
            <a:chExt cx="4843737" cy="478631"/>
          </a:xfrm>
        </p:grpSpPr>
        <p:grpSp>
          <p:nvGrpSpPr>
            <p:cNvPr id="33" name="Group 33"/>
            <p:cNvGrpSpPr/>
            <p:nvPr/>
          </p:nvGrpSpPr>
          <p:grpSpPr>
            <a:xfrm>
              <a:off x="969489" y="4563990"/>
              <a:ext cx="304482" cy="272328"/>
              <a:chOff x="969489" y="4563990"/>
              <a:chExt cx="304482" cy="27232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69489" y="4563990"/>
                <a:ext cx="152619" cy="244620"/>
              </a:xfrm>
              <a:custGeom>
                <a:avLst/>
                <a:gdLst/>
                <a:ahLst/>
                <a:cxnLst/>
                <a:rect l="l" t="t" r="r" b="b"/>
                <a:pathLst>
                  <a:path w="152619" h="244620">
                    <a:moveTo>
                      <a:pt x="0" y="214312"/>
                    </a:moveTo>
                    <a:lnTo>
                      <a:pt x="92002" y="122311"/>
                    </a:lnTo>
                    <a:lnTo>
                      <a:pt x="0" y="30308"/>
                    </a:lnTo>
                    <a:lnTo>
                      <a:pt x="30308" y="0"/>
                    </a:lnTo>
                    <a:lnTo>
                      <a:pt x="152619" y="122311"/>
                    </a:lnTo>
                    <a:lnTo>
                      <a:pt x="30308" y="244620"/>
                    </a:lnTo>
                    <a:lnTo>
                      <a:pt x="0" y="214312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02520" y="4793456"/>
                <a:ext cx="171451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71451" h="42862">
                    <a:moveTo>
                      <a:pt x="0" y="42862"/>
                    </a:moveTo>
                    <a:lnTo>
                      <a:pt x="171451" y="42862"/>
                    </a:lnTo>
                    <a:lnTo>
                      <a:pt x="171451" y="0"/>
                    </a:lnTo>
                    <a:lnTo>
                      <a:pt x="0" y="0"/>
                    </a:lnTo>
                    <a:lnTo>
                      <a:pt x="0" y="42862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466850" y="4486275"/>
              <a:ext cx="102522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9E0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CLI 命令行</a:t>
              </a:r>
              <a:endParaRPr lang="zh-CN" sz="1500" b="1" dirty="0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71612" y="4736306"/>
              <a:ext cx="4341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命令行快速分析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生成Markdown报告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CI/CD集成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脚本自动化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37" name="Line 37"/>
          <p:cNvSpPr/>
          <p:nvPr/>
        </p:nvSpPr>
        <p:spPr>
          <a:xfrm>
            <a:off x="741045" y="635444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2" name="文本框 41"/>
          <p:cNvSpPr txBox="1"/>
          <p:nvPr/>
        </p:nvSpPr>
        <p:spPr>
          <a:xfrm>
            <a:off x="1020445" y="4340860"/>
            <a:ext cx="3746500" cy="1699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r>
              <a:rPr lang="zh-CN" altLang="en-US" sz="3200" b="1"/>
              <a:t>项目使用方式</a:t>
            </a:r>
            <a:endParaRPr lang="zh-CN" altLang="en-US" sz="3200" b="1"/>
          </a:p>
          <a:p>
            <a:pPr algn="ctr"/>
            <a:r>
              <a:rPr lang="zh-CN" altLang="en-US" sz="1600" b="1"/>
              <a:t>（接下来逐一演示）</a:t>
            </a:r>
            <a:endParaRPr lang="zh-CN" altLang="en-US" sz="16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3" grpId="0"/>
      <p:bldP spid="30" grpId="0"/>
      <p:bldP spid="36" grpId="0"/>
      <p:bldP spid="42" grpId="0"/>
      <p:bldP spid="4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762000" y="381000"/>
            <a:ext cx="47625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56DB"/>
              </a:gs>
              <a:gs pos="100000">
                <a:srgbClr val="8B5CF6"/>
              </a:gs>
            </a:gsLst>
            <a:lin ang="0" scaled="1"/>
          </a:gra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809681" y="381000"/>
            <a:ext cx="4814394" cy="478631"/>
            <a:chOff x="953826" y="3038475"/>
            <a:chExt cx="4814394" cy="478631"/>
          </a:xfrm>
        </p:grpSpPr>
        <p:grpSp>
          <p:nvGrpSpPr>
            <p:cNvPr id="20" name="Group 20"/>
            <p:cNvGrpSpPr/>
            <p:nvPr/>
          </p:nvGrpSpPr>
          <p:grpSpPr>
            <a:xfrm>
              <a:off x="953826" y="3067050"/>
              <a:ext cx="340247" cy="342900"/>
              <a:chOff x="953826" y="3067050"/>
              <a:chExt cx="340247" cy="3429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53826" y="3137945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31242" y="0"/>
                    </a:moveTo>
                    <a:cubicBezTo>
                      <a:pt x="14713" y="22790"/>
                      <a:pt x="3656" y="49808"/>
                      <a:pt x="0" y="79124"/>
                    </a:cubicBezTo>
                    <a:lnTo>
                      <a:pt x="340247" y="79124"/>
                    </a:lnTo>
                    <a:cubicBezTo>
                      <a:pt x="336591" y="49808"/>
                      <a:pt x="325534" y="22790"/>
                      <a:pt x="309005" y="0"/>
                    </a:cubicBezTo>
                    <a:cubicBezTo>
                      <a:pt x="308113" y="499"/>
                      <a:pt x="307209" y="998"/>
                      <a:pt x="306294" y="1498"/>
                    </a:cubicBezTo>
                    <a:cubicBezTo>
                      <a:pt x="274460" y="18861"/>
                      <a:pt x="228084" y="36261"/>
                      <a:pt x="170123" y="36261"/>
                    </a:cubicBezTo>
                    <a:cubicBezTo>
                      <a:pt x="112162" y="36261"/>
                      <a:pt x="65785" y="18861"/>
                      <a:pt x="33952" y="1498"/>
                    </a:cubicBezTo>
                    <a:cubicBezTo>
                      <a:pt x="33037" y="999"/>
                      <a:pt x="32134" y="499"/>
                      <a:pt x="31242" y="0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15588" y="3067050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216722" y="38579"/>
                    </a:moveTo>
                    <a:cubicBezTo>
                      <a:pt x="190045" y="51981"/>
                      <a:pt x="153314" y="64294"/>
                      <a:pt x="108361" y="64294"/>
                    </a:cubicBezTo>
                    <a:cubicBezTo>
                      <a:pt x="63409" y="64294"/>
                      <a:pt x="26679" y="51981"/>
                      <a:pt x="0" y="38579"/>
                    </a:cubicBezTo>
                    <a:cubicBezTo>
                      <a:pt x="29534" y="14464"/>
                      <a:pt x="67259" y="0"/>
                      <a:pt x="108362" y="0"/>
                    </a:cubicBezTo>
                    <a:cubicBezTo>
                      <a:pt x="149464" y="0"/>
                      <a:pt x="187188" y="14464"/>
                      <a:pt x="216722" y="38579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53826" y="3259931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0" y="0"/>
                    </a:moveTo>
                    <a:cubicBezTo>
                      <a:pt x="3656" y="29316"/>
                      <a:pt x="14713" y="56334"/>
                      <a:pt x="31242" y="79124"/>
                    </a:cubicBezTo>
                    <a:cubicBezTo>
                      <a:pt x="32134" y="78625"/>
                      <a:pt x="33037" y="78125"/>
                      <a:pt x="33952" y="77626"/>
                    </a:cubicBezTo>
                    <a:cubicBezTo>
                      <a:pt x="65786" y="60263"/>
                      <a:pt x="112163" y="42862"/>
                      <a:pt x="170124" y="42862"/>
                    </a:cubicBezTo>
                    <a:cubicBezTo>
                      <a:pt x="228084" y="42862"/>
                      <a:pt x="274462" y="60263"/>
                      <a:pt x="306294" y="77626"/>
                    </a:cubicBezTo>
                    <a:cubicBezTo>
                      <a:pt x="307211" y="78125"/>
                      <a:pt x="308113" y="78625"/>
                      <a:pt x="309005" y="79124"/>
                    </a:cubicBezTo>
                    <a:cubicBezTo>
                      <a:pt x="325534" y="56334"/>
                      <a:pt x="336591" y="29316"/>
                      <a:pt x="34024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15589" y="3345656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108361" y="64294"/>
                    </a:moveTo>
                    <a:cubicBezTo>
                      <a:pt x="67259" y="64294"/>
                      <a:pt x="29534" y="49830"/>
                      <a:pt x="0" y="25715"/>
                    </a:cubicBezTo>
                    <a:cubicBezTo>
                      <a:pt x="26679" y="12312"/>
                      <a:pt x="63409" y="0"/>
                      <a:pt x="108361" y="0"/>
                    </a:cubicBezTo>
                    <a:cubicBezTo>
                      <a:pt x="153313" y="0"/>
                      <a:pt x="190044" y="12312"/>
                      <a:pt x="216722" y="25715"/>
                    </a:cubicBezTo>
                    <a:cubicBezTo>
                      <a:pt x="187188" y="49830"/>
                      <a:pt x="149464" y="64294"/>
                      <a:pt x="108361" y="64294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466850" y="3038475"/>
              <a:ext cx="11197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56D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Web 控制台</a:t>
              </a:r>
              <a:endParaRPr lang="zh-CN" sz="1500" b="1" dirty="0">
                <a:solidFill>
                  <a:srgbClr val="1A56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71612" y="3288506"/>
              <a:ext cx="42966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浏览器直接使用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实时流式进度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可视化结果展示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多用户支持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pic>
        <p:nvPicPr>
          <p:cNvPr id="42" name="图片 41" descr="屏幕截图 2026-06-11 114506"/>
          <p:cNvPicPr>
            <a:picLocks noChangeAspect="1"/>
          </p:cNvPicPr>
          <p:nvPr/>
        </p:nvPicPr>
        <p:blipFill>
          <a:blip r:embed="rId1"/>
          <a:srcRect l="25283" r="13492" b="-3691"/>
          <a:stretch>
            <a:fillRect/>
          </a:stretch>
        </p:blipFill>
        <p:spPr>
          <a:xfrm>
            <a:off x="172720" y="1593850"/>
            <a:ext cx="5641975" cy="4816475"/>
          </a:xfrm>
          <a:prstGeom prst="rect">
            <a:avLst/>
          </a:prstGeom>
        </p:spPr>
      </p:pic>
      <p:pic>
        <p:nvPicPr>
          <p:cNvPr id="43" name="图片 42" descr="屏幕截图 2026-06-11 114543"/>
          <p:cNvPicPr>
            <a:picLocks noChangeAspect="1"/>
          </p:cNvPicPr>
          <p:nvPr/>
        </p:nvPicPr>
        <p:blipFill>
          <a:blip r:embed="rId2"/>
          <a:srcRect l="18713" r="10368"/>
          <a:stretch>
            <a:fillRect/>
          </a:stretch>
        </p:blipFill>
        <p:spPr>
          <a:xfrm>
            <a:off x="6020435" y="1707515"/>
            <a:ext cx="5963285" cy="4250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762000" y="381000"/>
            <a:ext cx="47625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56DB"/>
              </a:gs>
              <a:gs pos="100000">
                <a:srgbClr val="8B5CF6"/>
              </a:gs>
            </a:gsLst>
            <a:lin ang="0" scaled="1"/>
          </a:gra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809681" y="381000"/>
            <a:ext cx="4814394" cy="478631"/>
            <a:chOff x="953826" y="3038475"/>
            <a:chExt cx="4814394" cy="478631"/>
          </a:xfrm>
        </p:grpSpPr>
        <p:grpSp>
          <p:nvGrpSpPr>
            <p:cNvPr id="20" name="Group 20"/>
            <p:cNvGrpSpPr/>
            <p:nvPr/>
          </p:nvGrpSpPr>
          <p:grpSpPr>
            <a:xfrm>
              <a:off x="953826" y="3067050"/>
              <a:ext cx="340247" cy="342900"/>
              <a:chOff x="953826" y="3067050"/>
              <a:chExt cx="340247" cy="3429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53826" y="3137945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31242" y="0"/>
                    </a:moveTo>
                    <a:cubicBezTo>
                      <a:pt x="14713" y="22790"/>
                      <a:pt x="3656" y="49808"/>
                      <a:pt x="0" y="79124"/>
                    </a:cubicBezTo>
                    <a:lnTo>
                      <a:pt x="340247" y="79124"/>
                    </a:lnTo>
                    <a:cubicBezTo>
                      <a:pt x="336591" y="49808"/>
                      <a:pt x="325534" y="22790"/>
                      <a:pt x="309005" y="0"/>
                    </a:cubicBezTo>
                    <a:cubicBezTo>
                      <a:pt x="308113" y="499"/>
                      <a:pt x="307209" y="998"/>
                      <a:pt x="306294" y="1498"/>
                    </a:cubicBezTo>
                    <a:cubicBezTo>
                      <a:pt x="274460" y="18861"/>
                      <a:pt x="228084" y="36261"/>
                      <a:pt x="170123" y="36261"/>
                    </a:cubicBezTo>
                    <a:cubicBezTo>
                      <a:pt x="112162" y="36261"/>
                      <a:pt x="65785" y="18861"/>
                      <a:pt x="33952" y="1498"/>
                    </a:cubicBezTo>
                    <a:cubicBezTo>
                      <a:pt x="33037" y="999"/>
                      <a:pt x="32134" y="499"/>
                      <a:pt x="31242" y="0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15588" y="3067050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216722" y="38579"/>
                    </a:moveTo>
                    <a:cubicBezTo>
                      <a:pt x="190045" y="51981"/>
                      <a:pt x="153314" y="64294"/>
                      <a:pt x="108361" y="64294"/>
                    </a:cubicBezTo>
                    <a:cubicBezTo>
                      <a:pt x="63409" y="64294"/>
                      <a:pt x="26679" y="51981"/>
                      <a:pt x="0" y="38579"/>
                    </a:cubicBezTo>
                    <a:cubicBezTo>
                      <a:pt x="29534" y="14464"/>
                      <a:pt x="67259" y="0"/>
                      <a:pt x="108362" y="0"/>
                    </a:cubicBezTo>
                    <a:cubicBezTo>
                      <a:pt x="149464" y="0"/>
                      <a:pt x="187188" y="14464"/>
                      <a:pt x="216722" y="38579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53826" y="3259931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0" y="0"/>
                    </a:moveTo>
                    <a:cubicBezTo>
                      <a:pt x="3656" y="29316"/>
                      <a:pt x="14713" y="56334"/>
                      <a:pt x="31242" y="79124"/>
                    </a:cubicBezTo>
                    <a:cubicBezTo>
                      <a:pt x="32134" y="78625"/>
                      <a:pt x="33037" y="78125"/>
                      <a:pt x="33952" y="77626"/>
                    </a:cubicBezTo>
                    <a:cubicBezTo>
                      <a:pt x="65786" y="60263"/>
                      <a:pt x="112163" y="42862"/>
                      <a:pt x="170124" y="42862"/>
                    </a:cubicBezTo>
                    <a:cubicBezTo>
                      <a:pt x="228084" y="42862"/>
                      <a:pt x="274462" y="60263"/>
                      <a:pt x="306294" y="77626"/>
                    </a:cubicBezTo>
                    <a:cubicBezTo>
                      <a:pt x="307211" y="78125"/>
                      <a:pt x="308113" y="78625"/>
                      <a:pt x="309005" y="79124"/>
                    </a:cubicBezTo>
                    <a:cubicBezTo>
                      <a:pt x="325534" y="56334"/>
                      <a:pt x="336591" y="29316"/>
                      <a:pt x="34024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15589" y="3345656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108361" y="64294"/>
                    </a:moveTo>
                    <a:cubicBezTo>
                      <a:pt x="67259" y="64294"/>
                      <a:pt x="29534" y="49830"/>
                      <a:pt x="0" y="25715"/>
                    </a:cubicBezTo>
                    <a:cubicBezTo>
                      <a:pt x="26679" y="12312"/>
                      <a:pt x="63409" y="0"/>
                      <a:pt x="108361" y="0"/>
                    </a:cubicBezTo>
                    <a:cubicBezTo>
                      <a:pt x="153313" y="0"/>
                      <a:pt x="190044" y="12312"/>
                      <a:pt x="216722" y="25715"/>
                    </a:cubicBezTo>
                    <a:cubicBezTo>
                      <a:pt x="187188" y="49830"/>
                      <a:pt x="149464" y="64294"/>
                      <a:pt x="108361" y="64294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466850" y="3038475"/>
              <a:ext cx="11197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56D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Web 控制台</a:t>
              </a:r>
              <a:endParaRPr lang="zh-CN" sz="1500" b="1" dirty="0">
                <a:solidFill>
                  <a:srgbClr val="1A56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71612" y="3288506"/>
              <a:ext cx="42966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浏览器直接使用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实时流式进度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可视化结果展示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多用户支持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pic>
        <p:nvPicPr>
          <p:cNvPr id="2" name="图片 1" descr="屏幕截图 2026-06-11 114606"/>
          <p:cNvPicPr>
            <a:picLocks noChangeAspect="1"/>
          </p:cNvPicPr>
          <p:nvPr/>
        </p:nvPicPr>
        <p:blipFill>
          <a:blip r:embed="rId1"/>
          <a:srcRect l="21229" r="10005" b="35943"/>
          <a:stretch>
            <a:fillRect/>
          </a:stretch>
        </p:blipFill>
        <p:spPr>
          <a:xfrm>
            <a:off x="1327150" y="1515745"/>
            <a:ext cx="8383905" cy="4109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762000" y="381000"/>
            <a:ext cx="47625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56DB"/>
              </a:gs>
              <a:gs pos="100000">
                <a:srgbClr val="8B5CF6"/>
              </a:gs>
            </a:gsLst>
            <a:lin ang="0" scaled="1"/>
          </a:gra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809681" y="381000"/>
            <a:ext cx="4814394" cy="478631"/>
            <a:chOff x="953826" y="3038475"/>
            <a:chExt cx="4814394" cy="478631"/>
          </a:xfrm>
        </p:grpSpPr>
        <p:grpSp>
          <p:nvGrpSpPr>
            <p:cNvPr id="20" name="Group 20"/>
            <p:cNvGrpSpPr/>
            <p:nvPr/>
          </p:nvGrpSpPr>
          <p:grpSpPr>
            <a:xfrm>
              <a:off x="953826" y="3067050"/>
              <a:ext cx="340247" cy="342900"/>
              <a:chOff x="953826" y="3067050"/>
              <a:chExt cx="340247" cy="3429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53826" y="3137945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31242" y="0"/>
                    </a:moveTo>
                    <a:cubicBezTo>
                      <a:pt x="14713" y="22790"/>
                      <a:pt x="3656" y="49808"/>
                      <a:pt x="0" y="79124"/>
                    </a:cubicBezTo>
                    <a:lnTo>
                      <a:pt x="340247" y="79124"/>
                    </a:lnTo>
                    <a:cubicBezTo>
                      <a:pt x="336591" y="49808"/>
                      <a:pt x="325534" y="22790"/>
                      <a:pt x="309005" y="0"/>
                    </a:cubicBezTo>
                    <a:cubicBezTo>
                      <a:pt x="308113" y="499"/>
                      <a:pt x="307209" y="998"/>
                      <a:pt x="306294" y="1498"/>
                    </a:cubicBezTo>
                    <a:cubicBezTo>
                      <a:pt x="274460" y="18861"/>
                      <a:pt x="228084" y="36261"/>
                      <a:pt x="170123" y="36261"/>
                    </a:cubicBezTo>
                    <a:cubicBezTo>
                      <a:pt x="112162" y="36261"/>
                      <a:pt x="65785" y="18861"/>
                      <a:pt x="33952" y="1498"/>
                    </a:cubicBezTo>
                    <a:cubicBezTo>
                      <a:pt x="33037" y="999"/>
                      <a:pt x="32134" y="499"/>
                      <a:pt x="31242" y="0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15588" y="3067050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216722" y="38579"/>
                    </a:moveTo>
                    <a:cubicBezTo>
                      <a:pt x="190045" y="51981"/>
                      <a:pt x="153314" y="64294"/>
                      <a:pt x="108361" y="64294"/>
                    </a:cubicBezTo>
                    <a:cubicBezTo>
                      <a:pt x="63409" y="64294"/>
                      <a:pt x="26679" y="51981"/>
                      <a:pt x="0" y="38579"/>
                    </a:cubicBezTo>
                    <a:cubicBezTo>
                      <a:pt x="29534" y="14464"/>
                      <a:pt x="67259" y="0"/>
                      <a:pt x="108362" y="0"/>
                    </a:cubicBezTo>
                    <a:cubicBezTo>
                      <a:pt x="149464" y="0"/>
                      <a:pt x="187188" y="14464"/>
                      <a:pt x="216722" y="38579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53826" y="3259931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0" y="0"/>
                    </a:moveTo>
                    <a:cubicBezTo>
                      <a:pt x="3656" y="29316"/>
                      <a:pt x="14713" y="56334"/>
                      <a:pt x="31242" y="79124"/>
                    </a:cubicBezTo>
                    <a:cubicBezTo>
                      <a:pt x="32134" y="78625"/>
                      <a:pt x="33037" y="78125"/>
                      <a:pt x="33952" y="77626"/>
                    </a:cubicBezTo>
                    <a:cubicBezTo>
                      <a:pt x="65786" y="60263"/>
                      <a:pt x="112163" y="42862"/>
                      <a:pt x="170124" y="42862"/>
                    </a:cubicBezTo>
                    <a:cubicBezTo>
                      <a:pt x="228084" y="42862"/>
                      <a:pt x="274462" y="60263"/>
                      <a:pt x="306294" y="77626"/>
                    </a:cubicBezTo>
                    <a:cubicBezTo>
                      <a:pt x="307211" y="78125"/>
                      <a:pt x="308113" y="78625"/>
                      <a:pt x="309005" y="79124"/>
                    </a:cubicBezTo>
                    <a:cubicBezTo>
                      <a:pt x="325534" y="56334"/>
                      <a:pt x="336591" y="29316"/>
                      <a:pt x="34024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15589" y="3345656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108361" y="64294"/>
                    </a:moveTo>
                    <a:cubicBezTo>
                      <a:pt x="67259" y="64294"/>
                      <a:pt x="29534" y="49830"/>
                      <a:pt x="0" y="25715"/>
                    </a:cubicBezTo>
                    <a:cubicBezTo>
                      <a:pt x="26679" y="12312"/>
                      <a:pt x="63409" y="0"/>
                      <a:pt x="108361" y="0"/>
                    </a:cubicBezTo>
                    <a:cubicBezTo>
                      <a:pt x="153313" y="0"/>
                      <a:pt x="190044" y="12312"/>
                      <a:pt x="216722" y="25715"/>
                    </a:cubicBezTo>
                    <a:cubicBezTo>
                      <a:pt x="187188" y="49830"/>
                      <a:pt x="149464" y="64294"/>
                      <a:pt x="108361" y="64294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466850" y="3038475"/>
              <a:ext cx="11197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56D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Web 控制台</a:t>
              </a:r>
              <a:endParaRPr lang="zh-CN" sz="1500" b="1" dirty="0">
                <a:solidFill>
                  <a:srgbClr val="1A56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71612" y="3288506"/>
              <a:ext cx="42966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浏览器直接使用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实时流式进度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可视化结果展示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多用户支持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pic>
        <p:nvPicPr>
          <p:cNvPr id="4" name="图片 3" descr="屏幕截图 2026-06-11 114653"/>
          <p:cNvPicPr>
            <a:picLocks noChangeAspect="1"/>
          </p:cNvPicPr>
          <p:nvPr/>
        </p:nvPicPr>
        <p:blipFill>
          <a:blip r:embed="rId1"/>
          <a:srcRect b="32855"/>
          <a:stretch>
            <a:fillRect/>
          </a:stretch>
        </p:blipFill>
        <p:spPr>
          <a:xfrm>
            <a:off x="364490" y="1883410"/>
            <a:ext cx="6590030" cy="2797175"/>
          </a:xfrm>
          <a:prstGeom prst="rect">
            <a:avLst/>
          </a:prstGeom>
        </p:spPr>
      </p:pic>
      <p:pic>
        <p:nvPicPr>
          <p:cNvPr id="2" name="图片 1" descr="屏幕截图 2026-06-11 114729"/>
          <p:cNvPicPr>
            <a:picLocks noChangeAspect="1"/>
          </p:cNvPicPr>
          <p:nvPr/>
        </p:nvPicPr>
        <p:blipFill>
          <a:blip r:embed="rId2"/>
          <a:srcRect r="33829"/>
          <a:stretch>
            <a:fillRect/>
          </a:stretch>
        </p:blipFill>
        <p:spPr>
          <a:xfrm>
            <a:off x="7193915" y="1400810"/>
            <a:ext cx="4722495" cy="3585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762000" y="381000"/>
            <a:ext cx="47625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56DB"/>
              </a:gs>
              <a:gs pos="100000">
                <a:srgbClr val="8B5CF6"/>
              </a:gs>
            </a:gsLst>
            <a:lin ang="0" scaled="1"/>
          </a:gra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809681" y="381000"/>
            <a:ext cx="4814394" cy="478631"/>
            <a:chOff x="953826" y="3038475"/>
            <a:chExt cx="4814394" cy="478631"/>
          </a:xfrm>
        </p:grpSpPr>
        <p:grpSp>
          <p:nvGrpSpPr>
            <p:cNvPr id="20" name="Group 20"/>
            <p:cNvGrpSpPr/>
            <p:nvPr/>
          </p:nvGrpSpPr>
          <p:grpSpPr>
            <a:xfrm>
              <a:off x="953826" y="3067050"/>
              <a:ext cx="340247" cy="342900"/>
              <a:chOff x="953826" y="3067050"/>
              <a:chExt cx="340247" cy="3429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53826" y="3137945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31242" y="0"/>
                    </a:moveTo>
                    <a:cubicBezTo>
                      <a:pt x="14713" y="22790"/>
                      <a:pt x="3656" y="49808"/>
                      <a:pt x="0" y="79124"/>
                    </a:cubicBezTo>
                    <a:lnTo>
                      <a:pt x="340247" y="79124"/>
                    </a:lnTo>
                    <a:cubicBezTo>
                      <a:pt x="336591" y="49808"/>
                      <a:pt x="325534" y="22790"/>
                      <a:pt x="309005" y="0"/>
                    </a:cubicBezTo>
                    <a:cubicBezTo>
                      <a:pt x="308113" y="499"/>
                      <a:pt x="307209" y="998"/>
                      <a:pt x="306294" y="1498"/>
                    </a:cubicBezTo>
                    <a:cubicBezTo>
                      <a:pt x="274460" y="18861"/>
                      <a:pt x="228084" y="36261"/>
                      <a:pt x="170123" y="36261"/>
                    </a:cubicBezTo>
                    <a:cubicBezTo>
                      <a:pt x="112162" y="36261"/>
                      <a:pt x="65785" y="18861"/>
                      <a:pt x="33952" y="1498"/>
                    </a:cubicBezTo>
                    <a:cubicBezTo>
                      <a:pt x="33037" y="999"/>
                      <a:pt x="32134" y="499"/>
                      <a:pt x="31242" y="0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15588" y="3067050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216722" y="38579"/>
                    </a:moveTo>
                    <a:cubicBezTo>
                      <a:pt x="190045" y="51981"/>
                      <a:pt x="153314" y="64294"/>
                      <a:pt x="108361" y="64294"/>
                    </a:cubicBezTo>
                    <a:cubicBezTo>
                      <a:pt x="63409" y="64294"/>
                      <a:pt x="26679" y="51981"/>
                      <a:pt x="0" y="38579"/>
                    </a:cubicBezTo>
                    <a:cubicBezTo>
                      <a:pt x="29534" y="14464"/>
                      <a:pt x="67259" y="0"/>
                      <a:pt x="108362" y="0"/>
                    </a:cubicBezTo>
                    <a:cubicBezTo>
                      <a:pt x="149464" y="0"/>
                      <a:pt x="187188" y="14464"/>
                      <a:pt x="216722" y="38579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53826" y="3259931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0" y="0"/>
                    </a:moveTo>
                    <a:cubicBezTo>
                      <a:pt x="3656" y="29316"/>
                      <a:pt x="14713" y="56334"/>
                      <a:pt x="31242" y="79124"/>
                    </a:cubicBezTo>
                    <a:cubicBezTo>
                      <a:pt x="32134" y="78625"/>
                      <a:pt x="33037" y="78125"/>
                      <a:pt x="33952" y="77626"/>
                    </a:cubicBezTo>
                    <a:cubicBezTo>
                      <a:pt x="65786" y="60263"/>
                      <a:pt x="112163" y="42862"/>
                      <a:pt x="170124" y="42862"/>
                    </a:cubicBezTo>
                    <a:cubicBezTo>
                      <a:pt x="228084" y="42862"/>
                      <a:pt x="274462" y="60263"/>
                      <a:pt x="306294" y="77626"/>
                    </a:cubicBezTo>
                    <a:cubicBezTo>
                      <a:pt x="307211" y="78125"/>
                      <a:pt x="308113" y="78625"/>
                      <a:pt x="309005" y="79124"/>
                    </a:cubicBezTo>
                    <a:cubicBezTo>
                      <a:pt x="325534" y="56334"/>
                      <a:pt x="336591" y="29316"/>
                      <a:pt x="34024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15589" y="3345656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108361" y="64294"/>
                    </a:moveTo>
                    <a:cubicBezTo>
                      <a:pt x="67259" y="64294"/>
                      <a:pt x="29534" y="49830"/>
                      <a:pt x="0" y="25715"/>
                    </a:cubicBezTo>
                    <a:cubicBezTo>
                      <a:pt x="26679" y="12312"/>
                      <a:pt x="63409" y="0"/>
                      <a:pt x="108361" y="0"/>
                    </a:cubicBezTo>
                    <a:cubicBezTo>
                      <a:pt x="153313" y="0"/>
                      <a:pt x="190044" y="12312"/>
                      <a:pt x="216722" y="25715"/>
                    </a:cubicBezTo>
                    <a:cubicBezTo>
                      <a:pt x="187188" y="49830"/>
                      <a:pt x="149464" y="64294"/>
                      <a:pt x="108361" y="64294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466850" y="3038475"/>
              <a:ext cx="11197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56D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Web 控制台</a:t>
              </a:r>
              <a:endParaRPr lang="zh-CN" sz="1500" b="1" dirty="0">
                <a:solidFill>
                  <a:srgbClr val="1A56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71612" y="3288506"/>
              <a:ext cx="42966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浏览器直接使用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实时流式进度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可视化结果展示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多用户支持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pic>
        <p:nvPicPr>
          <p:cNvPr id="2" name="图片 1" descr="屏幕截图 2026-06-11 1149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283970"/>
            <a:ext cx="10186670" cy="5238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762000" y="381000"/>
            <a:ext cx="47625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56DB"/>
              </a:gs>
              <a:gs pos="100000">
                <a:srgbClr val="8B5CF6"/>
              </a:gs>
            </a:gsLst>
            <a:lin ang="0" scaled="1"/>
          </a:gra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809681" y="381000"/>
            <a:ext cx="4814394" cy="478631"/>
            <a:chOff x="953826" y="3038475"/>
            <a:chExt cx="4814394" cy="478631"/>
          </a:xfrm>
        </p:grpSpPr>
        <p:grpSp>
          <p:nvGrpSpPr>
            <p:cNvPr id="20" name="Group 20"/>
            <p:cNvGrpSpPr/>
            <p:nvPr/>
          </p:nvGrpSpPr>
          <p:grpSpPr>
            <a:xfrm>
              <a:off x="953826" y="3067050"/>
              <a:ext cx="340247" cy="342900"/>
              <a:chOff x="953826" y="3067050"/>
              <a:chExt cx="340247" cy="3429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53826" y="3137945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31242" y="0"/>
                    </a:moveTo>
                    <a:cubicBezTo>
                      <a:pt x="14713" y="22790"/>
                      <a:pt x="3656" y="49808"/>
                      <a:pt x="0" y="79124"/>
                    </a:cubicBezTo>
                    <a:lnTo>
                      <a:pt x="340247" y="79124"/>
                    </a:lnTo>
                    <a:cubicBezTo>
                      <a:pt x="336591" y="49808"/>
                      <a:pt x="325534" y="22790"/>
                      <a:pt x="309005" y="0"/>
                    </a:cubicBezTo>
                    <a:cubicBezTo>
                      <a:pt x="308113" y="499"/>
                      <a:pt x="307209" y="998"/>
                      <a:pt x="306294" y="1498"/>
                    </a:cubicBezTo>
                    <a:cubicBezTo>
                      <a:pt x="274460" y="18861"/>
                      <a:pt x="228084" y="36261"/>
                      <a:pt x="170123" y="36261"/>
                    </a:cubicBezTo>
                    <a:cubicBezTo>
                      <a:pt x="112162" y="36261"/>
                      <a:pt x="65785" y="18861"/>
                      <a:pt x="33952" y="1498"/>
                    </a:cubicBezTo>
                    <a:cubicBezTo>
                      <a:pt x="33037" y="999"/>
                      <a:pt x="32134" y="499"/>
                      <a:pt x="31242" y="0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15588" y="3067050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216722" y="38579"/>
                    </a:moveTo>
                    <a:cubicBezTo>
                      <a:pt x="190045" y="51981"/>
                      <a:pt x="153314" y="64294"/>
                      <a:pt x="108361" y="64294"/>
                    </a:cubicBezTo>
                    <a:cubicBezTo>
                      <a:pt x="63409" y="64294"/>
                      <a:pt x="26679" y="51981"/>
                      <a:pt x="0" y="38579"/>
                    </a:cubicBezTo>
                    <a:cubicBezTo>
                      <a:pt x="29534" y="14464"/>
                      <a:pt x="67259" y="0"/>
                      <a:pt x="108362" y="0"/>
                    </a:cubicBezTo>
                    <a:cubicBezTo>
                      <a:pt x="149464" y="0"/>
                      <a:pt x="187188" y="14464"/>
                      <a:pt x="216722" y="38579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53826" y="3259931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0" y="0"/>
                    </a:moveTo>
                    <a:cubicBezTo>
                      <a:pt x="3656" y="29316"/>
                      <a:pt x="14713" y="56334"/>
                      <a:pt x="31242" y="79124"/>
                    </a:cubicBezTo>
                    <a:cubicBezTo>
                      <a:pt x="32134" y="78625"/>
                      <a:pt x="33037" y="78125"/>
                      <a:pt x="33952" y="77626"/>
                    </a:cubicBezTo>
                    <a:cubicBezTo>
                      <a:pt x="65786" y="60263"/>
                      <a:pt x="112163" y="42862"/>
                      <a:pt x="170124" y="42862"/>
                    </a:cubicBezTo>
                    <a:cubicBezTo>
                      <a:pt x="228084" y="42862"/>
                      <a:pt x="274462" y="60263"/>
                      <a:pt x="306294" y="77626"/>
                    </a:cubicBezTo>
                    <a:cubicBezTo>
                      <a:pt x="307211" y="78125"/>
                      <a:pt x="308113" y="78625"/>
                      <a:pt x="309005" y="79124"/>
                    </a:cubicBezTo>
                    <a:cubicBezTo>
                      <a:pt x="325534" y="56334"/>
                      <a:pt x="336591" y="29316"/>
                      <a:pt x="34024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15589" y="3345656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108361" y="64294"/>
                    </a:moveTo>
                    <a:cubicBezTo>
                      <a:pt x="67259" y="64294"/>
                      <a:pt x="29534" y="49830"/>
                      <a:pt x="0" y="25715"/>
                    </a:cubicBezTo>
                    <a:cubicBezTo>
                      <a:pt x="26679" y="12312"/>
                      <a:pt x="63409" y="0"/>
                      <a:pt x="108361" y="0"/>
                    </a:cubicBezTo>
                    <a:cubicBezTo>
                      <a:pt x="153313" y="0"/>
                      <a:pt x="190044" y="12312"/>
                      <a:pt x="216722" y="25715"/>
                    </a:cubicBezTo>
                    <a:cubicBezTo>
                      <a:pt x="187188" y="49830"/>
                      <a:pt x="149464" y="64294"/>
                      <a:pt x="108361" y="64294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466850" y="3038475"/>
              <a:ext cx="11197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56D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Web 控制台</a:t>
              </a:r>
              <a:endParaRPr lang="zh-CN" sz="1500" b="1" dirty="0">
                <a:solidFill>
                  <a:srgbClr val="1A56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71612" y="3288506"/>
              <a:ext cx="42966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浏览器直接使用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实时流式进度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可视化结果展示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多用户支持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pic>
        <p:nvPicPr>
          <p:cNvPr id="2" name="图片 1" descr="屏幕截图 2026-06-11 1148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985" y="1085850"/>
            <a:ext cx="10114280" cy="1419225"/>
          </a:xfrm>
          <a:prstGeom prst="rect">
            <a:avLst/>
          </a:prstGeom>
        </p:spPr>
      </p:pic>
      <p:pic>
        <p:nvPicPr>
          <p:cNvPr id="4" name="图片 3" descr="屏幕截图 2026-06-11 1149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710" y="2731135"/>
            <a:ext cx="6490970" cy="3974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/>
          <p:cNvSpPr txBox="1"/>
          <p:nvPr/>
        </p:nvSpPr>
        <p:spPr>
          <a:xfrm>
            <a:off x="11237024" y="6522720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 / 14</a:t>
            </a:r>
            <a:endParaRPr lang="zh-CN" sz="900" dirty="0">
              <a:solidFill>
                <a:srgbClr val="94A3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" name="图片 3" descr="屏幕截图 2026-06-11 1150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3429000"/>
            <a:ext cx="6271895" cy="3355340"/>
          </a:xfrm>
          <a:prstGeom prst="rect">
            <a:avLst/>
          </a:prstGeom>
        </p:spPr>
      </p:pic>
      <p:sp>
        <p:nvSpPr>
          <p:cNvPr id="14" name="Rectangle 3"/>
          <p:cNvSpPr/>
          <p:nvPr/>
        </p:nvSpPr>
        <p:spPr>
          <a:xfrm>
            <a:off x="521335" y="359410"/>
            <a:ext cx="47625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56DB"/>
              </a:gs>
              <a:gs pos="100000">
                <a:srgbClr val="8B5CF6"/>
              </a:gs>
            </a:gsLst>
            <a:lin ang="0" scaled="1"/>
          </a:gradFill>
          <a:ln>
            <a:noFill/>
          </a:ln>
        </p:spPr>
      </p:sp>
      <p:grpSp>
        <p:nvGrpSpPr>
          <p:cNvPr id="15" name="Group 23"/>
          <p:cNvGrpSpPr/>
          <p:nvPr/>
        </p:nvGrpSpPr>
        <p:grpSpPr>
          <a:xfrm>
            <a:off x="569016" y="359410"/>
            <a:ext cx="4814394" cy="478631"/>
            <a:chOff x="953826" y="3038475"/>
            <a:chExt cx="4814394" cy="478631"/>
          </a:xfrm>
        </p:grpSpPr>
        <p:grpSp>
          <p:nvGrpSpPr>
            <p:cNvPr id="24" name="Group 20"/>
            <p:cNvGrpSpPr/>
            <p:nvPr/>
          </p:nvGrpSpPr>
          <p:grpSpPr>
            <a:xfrm>
              <a:off x="953826" y="3067050"/>
              <a:ext cx="340247" cy="342900"/>
              <a:chOff x="953826" y="3067050"/>
              <a:chExt cx="340247" cy="342900"/>
            </a:xfrm>
          </p:grpSpPr>
          <p:sp>
            <p:nvSpPr>
              <p:cNvPr id="25" name="Freeform 16"/>
              <p:cNvSpPr/>
              <p:nvPr/>
            </p:nvSpPr>
            <p:spPr>
              <a:xfrm>
                <a:off x="953826" y="3137945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31242" y="0"/>
                    </a:moveTo>
                    <a:cubicBezTo>
                      <a:pt x="14713" y="22790"/>
                      <a:pt x="3656" y="49808"/>
                      <a:pt x="0" y="79124"/>
                    </a:cubicBezTo>
                    <a:lnTo>
                      <a:pt x="340247" y="79124"/>
                    </a:lnTo>
                    <a:cubicBezTo>
                      <a:pt x="336591" y="49808"/>
                      <a:pt x="325534" y="22790"/>
                      <a:pt x="309005" y="0"/>
                    </a:cubicBezTo>
                    <a:cubicBezTo>
                      <a:pt x="308113" y="499"/>
                      <a:pt x="307209" y="998"/>
                      <a:pt x="306294" y="1498"/>
                    </a:cubicBezTo>
                    <a:cubicBezTo>
                      <a:pt x="274460" y="18861"/>
                      <a:pt x="228084" y="36261"/>
                      <a:pt x="170123" y="36261"/>
                    </a:cubicBezTo>
                    <a:cubicBezTo>
                      <a:pt x="112162" y="36261"/>
                      <a:pt x="65785" y="18861"/>
                      <a:pt x="33952" y="1498"/>
                    </a:cubicBezTo>
                    <a:cubicBezTo>
                      <a:pt x="33037" y="999"/>
                      <a:pt x="32134" y="499"/>
                      <a:pt x="31242" y="0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26" name="Freeform 17"/>
              <p:cNvSpPr/>
              <p:nvPr/>
            </p:nvSpPr>
            <p:spPr>
              <a:xfrm>
                <a:off x="1015588" y="3067050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216722" y="38579"/>
                    </a:moveTo>
                    <a:cubicBezTo>
                      <a:pt x="190045" y="51981"/>
                      <a:pt x="153314" y="64294"/>
                      <a:pt x="108361" y="64294"/>
                    </a:cubicBezTo>
                    <a:cubicBezTo>
                      <a:pt x="63409" y="64294"/>
                      <a:pt x="26679" y="51981"/>
                      <a:pt x="0" y="38579"/>
                    </a:cubicBezTo>
                    <a:cubicBezTo>
                      <a:pt x="29534" y="14464"/>
                      <a:pt x="67259" y="0"/>
                      <a:pt x="108362" y="0"/>
                    </a:cubicBezTo>
                    <a:cubicBezTo>
                      <a:pt x="149464" y="0"/>
                      <a:pt x="187188" y="14464"/>
                      <a:pt x="216722" y="38579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27" name="Freeform 18"/>
              <p:cNvSpPr/>
              <p:nvPr/>
            </p:nvSpPr>
            <p:spPr>
              <a:xfrm>
                <a:off x="953826" y="3259931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0" y="0"/>
                    </a:moveTo>
                    <a:cubicBezTo>
                      <a:pt x="3656" y="29316"/>
                      <a:pt x="14713" y="56334"/>
                      <a:pt x="31242" y="79124"/>
                    </a:cubicBezTo>
                    <a:cubicBezTo>
                      <a:pt x="32134" y="78625"/>
                      <a:pt x="33037" y="78125"/>
                      <a:pt x="33952" y="77626"/>
                    </a:cubicBezTo>
                    <a:cubicBezTo>
                      <a:pt x="65786" y="60263"/>
                      <a:pt x="112163" y="42862"/>
                      <a:pt x="170124" y="42862"/>
                    </a:cubicBezTo>
                    <a:cubicBezTo>
                      <a:pt x="228084" y="42862"/>
                      <a:pt x="274462" y="60263"/>
                      <a:pt x="306294" y="77626"/>
                    </a:cubicBezTo>
                    <a:cubicBezTo>
                      <a:pt x="307211" y="78125"/>
                      <a:pt x="308113" y="78625"/>
                      <a:pt x="309005" y="79124"/>
                    </a:cubicBezTo>
                    <a:cubicBezTo>
                      <a:pt x="325534" y="56334"/>
                      <a:pt x="336591" y="29316"/>
                      <a:pt x="34024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  <p:sp>
            <p:nvSpPr>
              <p:cNvPr id="28" name="Freeform 19"/>
              <p:cNvSpPr/>
              <p:nvPr/>
            </p:nvSpPr>
            <p:spPr>
              <a:xfrm>
                <a:off x="1015589" y="3345656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108361" y="64294"/>
                    </a:moveTo>
                    <a:cubicBezTo>
                      <a:pt x="67259" y="64294"/>
                      <a:pt x="29534" y="49830"/>
                      <a:pt x="0" y="25715"/>
                    </a:cubicBezTo>
                    <a:cubicBezTo>
                      <a:pt x="26679" y="12312"/>
                      <a:pt x="63409" y="0"/>
                      <a:pt x="108361" y="0"/>
                    </a:cubicBezTo>
                    <a:cubicBezTo>
                      <a:pt x="153313" y="0"/>
                      <a:pt x="190044" y="12312"/>
                      <a:pt x="216722" y="25715"/>
                    </a:cubicBezTo>
                    <a:cubicBezTo>
                      <a:pt x="187188" y="49830"/>
                      <a:pt x="149464" y="64294"/>
                      <a:pt x="108361" y="64294"/>
                    </a:cubicBezTo>
                    <a:close/>
                  </a:path>
                </a:pathLst>
              </a:custGeom>
              <a:solidFill>
                <a:srgbClr val="1A56DB"/>
              </a:solidFill>
              <a:ln>
                <a:noFill/>
              </a:ln>
            </p:spPr>
          </p:sp>
        </p:grpSp>
        <p:sp>
          <p:nvSpPr>
            <p:cNvPr id="29" name="TextBox 21"/>
            <p:cNvSpPr txBox="1"/>
            <p:nvPr/>
          </p:nvSpPr>
          <p:spPr>
            <a:xfrm>
              <a:off x="1466850" y="3038475"/>
              <a:ext cx="11197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56D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Web 控制台</a:t>
              </a:r>
              <a:endParaRPr lang="zh-CN" sz="1500" b="1" dirty="0">
                <a:solidFill>
                  <a:srgbClr val="1A56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0" name="TextBox 22"/>
            <p:cNvSpPr txBox="1"/>
            <p:nvPr/>
          </p:nvSpPr>
          <p:spPr>
            <a:xfrm>
              <a:off x="1471612" y="3288506"/>
              <a:ext cx="42966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浏览器直接使用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实时流式进度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可视化结果展示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多用户支持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pic>
        <p:nvPicPr>
          <p:cNvPr id="2" name="图片 1" descr="屏幕截图 2026-06-11 1150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5515"/>
            <a:ext cx="7247255" cy="3967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8"/>
          <p:cNvSpPr txBox="1"/>
          <p:nvPr/>
        </p:nvSpPr>
        <p:spPr>
          <a:xfrm>
            <a:off x="945515" y="466725"/>
            <a:ext cx="580390" cy="3155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endParaRPr lang="zh-CN" sz="1500" b="1" dirty="0">
              <a:solidFill>
                <a:srgbClr val="10B98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34" name="Group 30"/>
          <p:cNvGrpSpPr/>
          <p:nvPr/>
        </p:nvGrpSpPr>
        <p:grpSpPr>
          <a:xfrm>
            <a:off x="470535" y="466725"/>
            <a:ext cx="5175765" cy="478631"/>
            <a:chOff x="952500" y="3762375"/>
            <a:chExt cx="5175765" cy="478631"/>
          </a:xfrm>
        </p:grpSpPr>
        <p:grpSp>
          <p:nvGrpSpPr>
            <p:cNvPr id="35" name="Group 27"/>
            <p:cNvGrpSpPr/>
            <p:nvPr/>
          </p:nvGrpSpPr>
          <p:grpSpPr>
            <a:xfrm>
              <a:off x="952500" y="3809350"/>
              <a:ext cx="342900" cy="306099"/>
              <a:chOff x="952500" y="3809350"/>
              <a:chExt cx="342900" cy="306099"/>
            </a:xfrm>
          </p:grpSpPr>
          <p:sp>
            <p:nvSpPr>
              <p:cNvPr id="36" name="Freeform 24"/>
              <p:cNvSpPr/>
              <p:nvPr/>
            </p:nvSpPr>
            <p:spPr>
              <a:xfrm>
                <a:off x="1081303" y="3809350"/>
                <a:ext cx="85294" cy="306099"/>
              </a:xfrm>
              <a:custGeom>
                <a:avLst/>
                <a:gdLst/>
                <a:ahLst/>
                <a:cxnLst/>
                <a:rect l="l" t="t" r="r" b="b"/>
                <a:pathLst>
                  <a:path w="85294" h="306099">
                    <a:moveTo>
                      <a:pt x="42863" y="0"/>
                    </a:moveTo>
                    <a:lnTo>
                      <a:pt x="0" y="300038"/>
                    </a:lnTo>
                    <a:lnTo>
                      <a:pt x="42432" y="306099"/>
                    </a:lnTo>
                    <a:lnTo>
                      <a:pt x="85294" y="6062"/>
                    </a:lnTo>
                    <a:lnTo>
                      <a:pt x="42863" y="0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37" name="Freeform 25"/>
              <p:cNvSpPr/>
              <p:nvPr/>
            </p:nvSpPr>
            <p:spPr>
              <a:xfrm>
                <a:off x="1190083" y="3887391"/>
                <a:ext cx="105317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05317" h="150019">
                    <a:moveTo>
                      <a:pt x="30308" y="150019"/>
                    </a:moveTo>
                    <a:lnTo>
                      <a:pt x="0" y="119711"/>
                    </a:lnTo>
                    <a:lnTo>
                      <a:pt x="44701" y="75009"/>
                    </a:lnTo>
                    <a:lnTo>
                      <a:pt x="0" y="30309"/>
                    </a:lnTo>
                    <a:lnTo>
                      <a:pt x="30308" y="0"/>
                    </a:lnTo>
                    <a:lnTo>
                      <a:pt x="105317" y="75009"/>
                    </a:lnTo>
                    <a:lnTo>
                      <a:pt x="30308" y="150019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38" name="Freeform 26"/>
              <p:cNvSpPr/>
              <p:nvPr/>
            </p:nvSpPr>
            <p:spPr>
              <a:xfrm>
                <a:off x="952500" y="3887391"/>
                <a:ext cx="10531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05318" h="150019">
                    <a:moveTo>
                      <a:pt x="60617" y="75009"/>
                    </a:moveTo>
                    <a:lnTo>
                      <a:pt x="105318" y="119711"/>
                    </a:lnTo>
                    <a:lnTo>
                      <a:pt x="75009" y="150019"/>
                    </a:lnTo>
                    <a:lnTo>
                      <a:pt x="0" y="75009"/>
                    </a:lnTo>
                    <a:lnTo>
                      <a:pt x="75009" y="0"/>
                    </a:lnTo>
                    <a:lnTo>
                      <a:pt x="105318" y="30309"/>
                    </a:lnTo>
                    <a:lnTo>
                      <a:pt x="60617" y="75009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</p:grpSp>
        <p:sp>
          <p:nvSpPr>
            <p:cNvPr id="39" name="TextBox 28"/>
            <p:cNvSpPr txBox="1"/>
            <p:nvPr/>
          </p:nvSpPr>
          <p:spPr>
            <a:xfrm>
              <a:off x="1466850" y="3762375"/>
              <a:ext cx="1214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B98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VSCode 扩展</a:t>
              </a:r>
              <a:endParaRPr lang="zh-CN" sz="1500" b="1" dirty="0">
                <a:solidFill>
                  <a:srgbClr val="10B98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0" name="TextBox 29"/>
            <p:cNvSpPr txBox="1"/>
            <p:nvPr/>
          </p:nvSpPr>
          <p:spPr>
            <a:xfrm>
              <a:off x="1471612" y="4012406"/>
              <a:ext cx="4656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IDE内一键审查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侧边栏查看结果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一键应用代码建议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无缝开发体验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pic>
        <p:nvPicPr>
          <p:cNvPr id="42" name="图片 41" descr="@0`A41HC9`RWYC}M(JDN)%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8135" y="2472055"/>
            <a:ext cx="6456045" cy="4050665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45" y="1060450"/>
            <a:ext cx="5001895" cy="3582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8"/>
          <p:cNvSpPr txBox="1"/>
          <p:nvPr/>
        </p:nvSpPr>
        <p:spPr>
          <a:xfrm>
            <a:off x="945515" y="466725"/>
            <a:ext cx="580390" cy="3155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endParaRPr lang="zh-CN" sz="1500" b="1" dirty="0">
              <a:solidFill>
                <a:srgbClr val="10B98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34" name="Group 30"/>
          <p:cNvGrpSpPr/>
          <p:nvPr/>
        </p:nvGrpSpPr>
        <p:grpSpPr>
          <a:xfrm>
            <a:off x="470535" y="466725"/>
            <a:ext cx="5175765" cy="478631"/>
            <a:chOff x="952500" y="3762375"/>
            <a:chExt cx="5175765" cy="478631"/>
          </a:xfrm>
        </p:grpSpPr>
        <p:grpSp>
          <p:nvGrpSpPr>
            <p:cNvPr id="35" name="Group 27"/>
            <p:cNvGrpSpPr/>
            <p:nvPr/>
          </p:nvGrpSpPr>
          <p:grpSpPr>
            <a:xfrm>
              <a:off x="952500" y="3809350"/>
              <a:ext cx="342900" cy="306099"/>
              <a:chOff x="952500" y="3809350"/>
              <a:chExt cx="342900" cy="306099"/>
            </a:xfrm>
          </p:grpSpPr>
          <p:sp>
            <p:nvSpPr>
              <p:cNvPr id="36" name="Freeform 24"/>
              <p:cNvSpPr/>
              <p:nvPr/>
            </p:nvSpPr>
            <p:spPr>
              <a:xfrm>
                <a:off x="1081303" y="3809350"/>
                <a:ext cx="85294" cy="306099"/>
              </a:xfrm>
              <a:custGeom>
                <a:avLst/>
                <a:gdLst/>
                <a:ahLst/>
                <a:cxnLst/>
                <a:rect l="l" t="t" r="r" b="b"/>
                <a:pathLst>
                  <a:path w="85294" h="306099">
                    <a:moveTo>
                      <a:pt x="42863" y="0"/>
                    </a:moveTo>
                    <a:lnTo>
                      <a:pt x="0" y="300038"/>
                    </a:lnTo>
                    <a:lnTo>
                      <a:pt x="42432" y="306099"/>
                    </a:lnTo>
                    <a:lnTo>
                      <a:pt x="85294" y="6062"/>
                    </a:lnTo>
                    <a:lnTo>
                      <a:pt x="42863" y="0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37" name="Freeform 25"/>
              <p:cNvSpPr/>
              <p:nvPr/>
            </p:nvSpPr>
            <p:spPr>
              <a:xfrm>
                <a:off x="1190083" y="3887391"/>
                <a:ext cx="105317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05317" h="150019">
                    <a:moveTo>
                      <a:pt x="30308" y="150019"/>
                    </a:moveTo>
                    <a:lnTo>
                      <a:pt x="0" y="119711"/>
                    </a:lnTo>
                    <a:lnTo>
                      <a:pt x="44701" y="75009"/>
                    </a:lnTo>
                    <a:lnTo>
                      <a:pt x="0" y="30309"/>
                    </a:lnTo>
                    <a:lnTo>
                      <a:pt x="30308" y="0"/>
                    </a:lnTo>
                    <a:lnTo>
                      <a:pt x="105317" y="75009"/>
                    </a:lnTo>
                    <a:lnTo>
                      <a:pt x="30308" y="150019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38" name="Freeform 26"/>
              <p:cNvSpPr/>
              <p:nvPr/>
            </p:nvSpPr>
            <p:spPr>
              <a:xfrm>
                <a:off x="952500" y="3887391"/>
                <a:ext cx="10531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05318" h="150019">
                    <a:moveTo>
                      <a:pt x="60617" y="75009"/>
                    </a:moveTo>
                    <a:lnTo>
                      <a:pt x="105318" y="119711"/>
                    </a:lnTo>
                    <a:lnTo>
                      <a:pt x="75009" y="150019"/>
                    </a:lnTo>
                    <a:lnTo>
                      <a:pt x="0" y="75009"/>
                    </a:lnTo>
                    <a:lnTo>
                      <a:pt x="75009" y="0"/>
                    </a:lnTo>
                    <a:lnTo>
                      <a:pt x="105318" y="30309"/>
                    </a:lnTo>
                    <a:lnTo>
                      <a:pt x="60617" y="75009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</p:grpSp>
        <p:sp>
          <p:nvSpPr>
            <p:cNvPr id="39" name="TextBox 28"/>
            <p:cNvSpPr txBox="1"/>
            <p:nvPr/>
          </p:nvSpPr>
          <p:spPr>
            <a:xfrm>
              <a:off x="1466850" y="3762375"/>
              <a:ext cx="1214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B98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VSCode 扩展</a:t>
              </a:r>
              <a:endParaRPr lang="zh-CN" sz="1500" b="1" dirty="0">
                <a:solidFill>
                  <a:srgbClr val="10B98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0" name="TextBox 29"/>
            <p:cNvSpPr txBox="1"/>
            <p:nvPr/>
          </p:nvSpPr>
          <p:spPr>
            <a:xfrm>
              <a:off x="1471612" y="4012406"/>
              <a:ext cx="4656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IDE内一键审查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侧边栏查看结果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一键应用代码建议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无缝开发体验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pic>
        <p:nvPicPr>
          <p:cNvPr id="2" name="图片 1" descr="2`NB%D9[G_%3B)@[]`SOHS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370" y="1040765"/>
            <a:ext cx="5477510" cy="955040"/>
          </a:xfrm>
          <a:prstGeom prst="rect">
            <a:avLst/>
          </a:prstGeom>
        </p:spPr>
      </p:pic>
      <p:pic>
        <p:nvPicPr>
          <p:cNvPr id="3" name="图片 2" descr="(UX2%6FT5O7YF2I63RAPU~Q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73530"/>
            <a:ext cx="5662930" cy="1044575"/>
          </a:xfrm>
          <a:prstGeom prst="rect">
            <a:avLst/>
          </a:prstGeom>
        </p:spPr>
      </p:pic>
      <p:pic>
        <p:nvPicPr>
          <p:cNvPr id="4" name="图片 3" descr="RLSX%NBH[9]XO}73ZWWYGZ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0" y="2171065"/>
            <a:ext cx="5443220" cy="1093470"/>
          </a:xfrm>
          <a:prstGeom prst="rect">
            <a:avLst/>
          </a:prstGeom>
        </p:spPr>
      </p:pic>
      <p:pic>
        <p:nvPicPr>
          <p:cNvPr id="7" name="图片 6" descr="]8E4S6LL}JWLP7I(EMBYHL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5365" y="3429000"/>
            <a:ext cx="5662295" cy="3402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8"/>
          <p:cNvSpPr txBox="1"/>
          <p:nvPr/>
        </p:nvSpPr>
        <p:spPr>
          <a:xfrm>
            <a:off x="945515" y="466725"/>
            <a:ext cx="580390" cy="3155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endParaRPr lang="zh-CN" sz="1500" b="1" dirty="0">
              <a:solidFill>
                <a:srgbClr val="10B98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34" name="Group 30"/>
          <p:cNvGrpSpPr/>
          <p:nvPr/>
        </p:nvGrpSpPr>
        <p:grpSpPr>
          <a:xfrm>
            <a:off x="470535" y="466725"/>
            <a:ext cx="5175765" cy="478631"/>
            <a:chOff x="952500" y="3762375"/>
            <a:chExt cx="5175765" cy="478631"/>
          </a:xfrm>
        </p:grpSpPr>
        <p:grpSp>
          <p:nvGrpSpPr>
            <p:cNvPr id="35" name="Group 27"/>
            <p:cNvGrpSpPr/>
            <p:nvPr/>
          </p:nvGrpSpPr>
          <p:grpSpPr>
            <a:xfrm>
              <a:off x="952500" y="3809350"/>
              <a:ext cx="342900" cy="306099"/>
              <a:chOff x="952500" y="3809350"/>
              <a:chExt cx="342900" cy="306099"/>
            </a:xfrm>
          </p:grpSpPr>
          <p:sp>
            <p:nvSpPr>
              <p:cNvPr id="36" name="Freeform 24"/>
              <p:cNvSpPr/>
              <p:nvPr/>
            </p:nvSpPr>
            <p:spPr>
              <a:xfrm>
                <a:off x="1081303" y="3809350"/>
                <a:ext cx="85294" cy="306099"/>
              </a:xfrm>
              <a:custGeom>
                <a:avLst/>
                <a:gdLst/>
                <a:ahLst/>
                <a:cxnLst/>
                <a:rect l="l" t="t" r="r" b="b"/>
                <a:pathLst>
                  <a:path w="85294" h="306099">
                    <a:moveTo>
                      <a:pt x="42863" y="0"/>
                    </a:moveTo>
                    <a:lnTo>
                      <a:pt x="0" y="300038"/>
                    </a:lnTo>
                    <a:lnTo>
                      <a:pt x="42432" y="306099"/>
                    </a:lnTo>
                    <a:lnTo>
                      <a:pt x="85294" y="6062"/>
                    </a:lnTo>
                    <a:lnTo>
                      <a:pt x="42863" y="0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37" name="Freeform 25"/>
              <p:cNvSpPr/>
              <p:nvPr/>
            </p:nvSpPr>
            <p:spPr>
              <a:xfrm>
                <a:off x="1190083" y="3887391"/>
                <a:ext cx="105317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05317" h="150019">
                    <a:moveTo>
                      <a:pt x="30308" y="150019"/>
                    </a:moveTo>
                    <a:lnTo>
                      <a:pt x="0" y="119711"/>
                    </a:lnTo>
                    <a:lnTo>
                      <a:pt x="44701" y="75009"/>
                    </a:lnTo>
                    <a:lnTo>
                      <a:pt x="0" y="30309"/>
                    </a:lnTo>
                    <a:lnTo>
                      <a:pt x="30308" y="0"/>
                    </a:lnTo>
                    <a:lnTo>
                      <a:pt x="105317" y="75009"/>
                    </a:lnTo>
                    <a:lnTo>
                      <a:pt x="30308" y="150019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38" name="Freeform 26"/>
              <p:cNvSpPr/>
              <p:nvPr/>
            </p:nvSpPr>
            <p:spPr>
              <a:xfrm>
                <a:off x="952500" y="3887391"/>
                <a:ext cx="10531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05318" h="150019">
                    <a:moveTo>
                      <a:pt x="60617" y="75009"/>
                    </a:moveTo>
                    <a:lnTo>
                      <a:pt x="105318" y="119711"/>
                    </a:lnTo>
                    <a:lnTo>
                      <a:pt x="75009" y="150019"/>
                    </a:lnTo>
                    <a:lnTo>
                      <a:pt x="0" y="75009"/>
                    </a:lnTo>
                    <a:lnTo>
                      <a:pt x="75009" y="0"/>
                    </a:lnTo>
                    <a:lnTo>
                      <a:pt x="105318" y="30309"/>
                    </a:lnTo>
                    <a:lnTo>
                      <a:pt x="60617" y="75009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</p:grpSp>
        <p:sp>
          <p:nvSpPr>
            <p:cNvPr id="39" name="TextBox 28"/>
            <p:cNvSpPr txBox="1"/>
            <p:nvPr/>
          </p:nvSpPr>
          <p:spPr>
            <a:xfrm>
              <a:off x="1466850" y="3762375"/>
              <a:ext cx="1214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B98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VSCode 扩展</a:t>
              </a:r>
              <a:endParaRPr lang="zh-CN" sz="1500" b="1" dirty="0">
                <a:solidFill>
                  <a:srgbClr val="10B98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0" name="TextBox 29"/>
            <p:cNvSpPr txBox="1"/>
            <p:nvPr/>
          </p:nvSpPr>
          <p:spPr>
            <a:xfrm>
              <a:off x="1471612" y="4012406"/>
              <a:ext cx="4656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IDE内一键审查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侧边栏查看结果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一键应用代码建议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无缝开发体验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pic>
        <p:nvPicPr>
          <p:cNvPr id="5" name="图片 4" descr="1M[QM4~MMP%FNIWFY@JS[]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535" y="1118235"/>
            <a:ext cx="5433695" cy="1096645"/>
          </a:xfrm>
          <a:prstGeom prst="rect">
            <a:avLst/>
          </a:prstGeom>
        </p:spPr>
      </p:pic>
      <p:pic>
        <p:nvPicPr>
          <p:cNvPr id="6" name="图片 5" descr="BPPHJ`M47]$Z4GGH4CQHZB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930" y="1878965"/>
            <a:ext cx="5507990" cy="10109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2591435"/>
            <a:ext cx="5249545" cy="41922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6"/>
          <p:cNvGrpSpPr/>
          <p:nvPr/>
        </p:nvGrpSpPr>
        <p:grpSpPr>
          <a:xfrm>
            <a:off x="428469" y="277495"/>
            <a:ext cx="4843737" cy="478631"/>
            <a:chOff x="969489" y="4486275"/>
            <a:chExt cx="4843737" cy="478631"/>
          </a:xfrm>
        </p:grpSpPr>
        <p:grpSp>
          <p:nvGrpSpPr>
            <p:cNvPr id="33" name="Group 33"/>
            <p:cNvGrpSpPr/>
            <p:nvPr/>
          </p:nvGrpSpPr>
          <p:grpSpPr>
            <a:xfrm>
              <a:off x="969489" y="4563990"/>
              <a:ext cx="304482" cy="272328"/>
              <a:chOff x="969489" y="4563990"/>
              <a:chExt cx="304482" cy="27232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69489" y="4563990"/>
                <a:ext cx="152619" cy="244620"/>
              </a:xfrm>
              <a:custGeom>
                <a:avLst/>
                <a:gdLst/>
                <a:ahLst/>
                <a:cxnLst/>
                <a:rect l="l" t="t" r="r" b="b"/>
                <a:pathLst>
                  <a:path w="152619" h="244620">
                    <a:moveTo>
                      <a:pt x="0" y="214312"/>
                    </a:moveTo>
                    <a:lnTo>
                      <a:pt x="92002" y="122311"/>
                    </a:lnTo>
                    <a:lnTo>
                      <a:pt x="0" y="30308"/>
                    </a:lnTo>
                    <a:lnTo>
                      <a:pt x="30308" y="0"/>
                    </a:lnTo>
                    <a:lnTo>
                      <a:pt x="152619" y="122311"/>
                    </a:lnTo>
                    <a:lnTo>
                      <a:pt x="30308" y="244620"/>
                    </a:lnTo>
                    <a:lnTo>
                      <a:pt x="0" y="214312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02520" y="4793456"/>
                <a:ext cx="171451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71451" h="42862">
                    <a:moveTo>
                      <a:pt x="0" y="42862"/>
                    </a:moveTo>
                    <a:lnTo>
                      <a:pt x="171451" y="42862"/>
                    </a:lnTo>
                    <a:lnTo>
                      <a:pt x="171451" y="0"/>
                    </a:lnTo>
                    <a:lnTo>
                      <a:pt x="0" y="0"/>
                    </a:lnTo>
                    <a:lnTo>
                      <a:pt x="0" y="42862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4" name="TextBox 34"/>
            <p:cNvSpPr txBox="1"/>
            <p:nvPr/>
          </p:nvSpPr>
          <p:spPr>
            <a:xfrm>
              <a:off x="1466850" y="4486275"/>
              <a:ext cx="102522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rgbClr val="F59E0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CLI 命令行</a:t>
              </a:r>
              <a:endParaRPr lang="zh-CN" sz="1500" b="1" dirty="0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TextBox 35"/>
            <p:cNvSpPr txBox="1"/>
            <p:nvPr/>
          </p:nvSpPr>
          <p:spPr>
            <a:xfrm>
              <a:off x="1471612" y="4736306"/>
              <a:ext cx="4341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命令行快速分析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生成Markdown报告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CI/CD集成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脚本自动化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pic>
        <p:nvPicPr>
          <p:cNvPr id="2" name="图片 1" descr="LW9Z{V2DUUDJ%%2RPYW$ME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810895"/>
            <a:ext cx="7480300" cy="4364990"/>
          </a:xfrm>
          <a:prstGeom prst="rect">
            <a:avLst/>
          </a:prstGeom>
        </p:spPr>
      </p:pic>
      <p:pic>
        <p:nvPicPr>
          <p:cNvPr id="6" name="图片 5" descr="1WX`FCOPT%V)I13K]{PF@`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5272405"/>
            <a:ext cx="9575165" cy="1561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6"/>
          <p:cNvGrpSpPr/>
          <p:nvPr/>
        </p:nvGrpSpPr>
        <p:grpSpPr>
          <a:xfrm>
            <a:off x="428469" y="277495"/>
            <a:ext cx="4843737" cy="478631"/>
            <a:chOff x="969489" y="4486275"/>
            <a:chExt cx="4843737" cy="478631"/>
          </a:xfrm>
        </p:grpSpPr>
        <p:grpSp>
          <p:nvGrpSpPr>
            <p:cNvPr id="33" name="Group 33"/>
            <p:cNvGrpSpPr/>
            <p:nvPr/>
          </p:nvGrpSpPr>
          <p:grpSpPr>
            <a:xfrm>
              <a:off x="969489" y="4563990"/>
              <a:ext cx="304482" cy="272328"/>
              <a:chOff x="969489" y="4563990"/>
              <a:chExt cx="304482" cy="27232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69489" y="4563990"/>
                <a:ext cx="152619" cy="244620"/>
              </a:xfrm>
              <a:custGeom>
                <a:avLst/>
                <a:gdLst/>
                <a:ahLst/>
                <a:cxnLst/>
                <a:rect l="l" t="t" r="r" b="b"/>
                <a:pathLst>
                  <a:path w="152619" h="244620">
                    <a:moveTo>
                      <a:pt x="0" y="214312"/>
                    </a:moveTo>
                    <a:lnTo>
                      <a:pt x="92002" y="122311"/>
                    </a:lnTo>
                    <a:lnTo>
                      <a:pt x="0" y="30308"/>
                    </a:lnTo>
                    <a:lnTo>
                      <a:pt x="30308" y="0"/>
                    </a:lnTo>
                    <a:lnTo>
                      <a:pt x="152619" y="122311"/>
                    </a:lnTo>
                    <a:lnTo>
                      <a:pt x="30308" y="244620"/>
                    </a:lnTo>
                    <a:lnTo>
                      <a:pt x="0" y="214312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02520" y="4793456"/>
                <a:ext cx="171451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71451" h="42862">
                    <a:moveTo>
                      <a:pt x="0" y="42862"/>
                    </a:moveTo>
                    <a:lnTo>
                      <a:pt x="171451" y="42862"/>
                    </a:lnTo>
                    <a:lnTo>
                      <a:pt x="171451" y="0"/>
                    </a:lnTo>
                    <a:lnTo>
                      <a:pt x="0" y="0"/>
                    </a:lnTo>
                    <a:lnTo>
                      <a:pt x="0" y="42862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4" name="TextBox 34"/>
            <p:cNvSpPr txBox="1"/>
            <p:nvPr/>
          </p:nvSpPr>
          <p:spPr>
            <a:xfrm>
              <a:off x="1466850" y="4486275"/>
              <a:ext cx="102522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rgbClr val="F59E0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CLI 命令行</a:t>
              </a:r>
              <a:endParaRPr lang="zh-CN" sz="1500" b="1" dirty="0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TextBox 35"/>
            <p:cNvSpPr txBox="1"/>
            <p:nvPr/>
          </p:nvSpPr>
          <p:spPr>
            <a:xfrm>
              <a:off x="1471612" y="4736306"/>
              <a:ext cx="4341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命令行快速分析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生成Markdown报告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CI/CD集成</a:t>
              </a:r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</a:t>
              </a:r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脚本自动化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pic>
        <p:nvPicPr>
          <p:cNvPr id="6" name="图片 5" descr="_T]8$UN5YNL2UDFN30X9R$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340" y="756285"/>
            <a:ext cx="6196965" cy="5805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3873889" y="138112"/>
            <a:ext cx="4444222" cy="552450"/>
            <a:chOff x="3873889" y="138112"/>
            <a:chExt cx="4444222" cy="552450"/>
          </a:xfrm>
        </p:grpSpPr>
        <p:sp>
          <p:nvSpPr>
            <p:cNvPr id="3" name="TextBox 3"/>
            <p:cNvSpPr txBox="1"/>
            <p:nvPr/>
          </p:nvSpPr>
          <p:spPr>
            <a:xfrm>
              <a:off x="5122307" y="138112"/>
              <a:ext cx="19473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1F3A5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技术架构全景</a:t>
              </a:r>
              <a:endParaRPr lang="zh-CN" sz="2250" b="1" dirty="0">
                <a:solidFill>
                  <a:srgbClr val="1F3A5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73889" y="477202"/>
              <a:ext cx="44442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端到端 AI PR Review 处理链路 — 从代码变更到智能审查结果的自动闭环</a:t>
              </a:r>
              <a:endParaRPr lang="zh-CN" sz="1050" dirty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781050"/>
            <a:ext cx="11049000" cy="742950"/>
            <a:chOff x="571500" y="781050"/>
            <a:chExt cx="11049000" cy="742950"/>
          </a:xfrm>
        </p:grpSpPr>
        <p:sp>
          <p:nvSpPr>
            <p:cNvPr id="6" name="Rectangle 6"/>
            <p:cNvSpPr/>
            <p:nvPr/>
          </p:nvSpPr>
          <p:spPr>
            <a:xfrm>
              <a:off x="571500" y="781050"/>
              <a:ext cx="11049000" cy="742950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571500" y="781050"/>
              <a:ext cx="47625" cy="742950"/>
            </a:xfrm>
            <a:prstGeom prst="roundRect">
              <a:avLst>
                <a:gd name="adj" fmla="val 50000"/>
              </a:avLst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81050" y="952500"/>
              <a:ext cx="400050" cy="400050"/>
            </a:xfrm>
            <a:prstGeom prst="roundRect">
              <a:avLst>
                <a:gd name="adj" fmla="val 23810"/>
              </a:avLst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80152" y="10882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L0</a:t>
              </a:r>
              <a:endParaRPr lang="zh-CN" sz="112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14450" y="9620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环境感知层</a:t>
              </a:r>
              <a:endParaRPr lang="zh-CN" sz="1500" b="1" dirty="0">
                <a:solidFill>
                  <a:srgbClr val="1F3A5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0165" y="1248728"/>
              <a:ext cx="173355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采集构建环境，识别平台差异</a:t>
              </a:r>
              <a:endParaRPr lang="zh-CN" sz="1050" dirty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573010" y="982345"/>
              <a:ext cx="781050" cy="26670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10172" y="1051084"/>
              <a:ext cx="49784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环境配置</a:t>
              </a:r>
              <a:endParaRPr lang="zh-CN" sz="97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19" name="Line 19"/>
          <p:cNvSpPr/>
          <p:nvPr/>
        </p:nvSpPr>
        <p:spPr>
          <a:xfrm>
            <a:off x="6096000" y="1533525"/>
            <a:ext cx="1" cy="76200"/>
          </a:xfrm>
          <a:prstGeom prst="line">
            <a:avLst/>
          </a:prstGeom>
          <a:noFill/>
          <a:ln w="14288">
            <a:solidFill>
              <a:srgbClr val="94A3B8"/>
            </a:solidFill>
            <a:tailEnd type="triangle" w="lg" len="lg"/>
          </a:ln>
        </p:spPr>
      </p:sp>
      <p:grpSp>
        <p:nvGrpSpPr>
          <p:cNvPr id="32" name="Group 32"/>
          <p:cNvGrpSpPr/>
          <p:nvPr/>
        </p:nvGrpSpPr>
        <p:grpSpPr>
          <a:xfrm>
            <a:off x="571500" y="1657350"/>
            <a:ext cx="11049000" cy="742950"/>
            <a:chOff x="571500" y="1657350"/>
            <a:chExt cx="11049000" cy="742950"/>
          </a:xfrm>
        </p:grpSpPr>
        <p:sp>
          <p:nvSpPr>
            <p:cNvPr id="20" name="Rectangle 20"/>
            <p:cNvSpPr/>
            <p:nvPr/>
          </p:nvSpPr>
          <p:spPr>
            <a:xfrm>
              <a:off x="571500" y="1657350"/>
              <a:ext cx="11049000" cy="742950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571500" y="1657350"/>
              <a:ext cx="47625" cy="742950"/>
            </a:xfrm>
            <a:prstGeom prst="roundRect">
              <a:avLst>
                <a:gd name="adj" fmla="val 50000"/>
              </a:avLst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" y="1828800"/>
              <a:ext cx="400050" cy="400050"/>
            </a:xfrm>
            <a:prstGeom prst="roundRect">
              <a:avLst>
                <a:gd name="adj" fmla="val 2381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9842" y="1964531"/>
              <a:ext cx="1624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L1</a:t>
              </a:r>
              <a:endParaRPr lang="zh-CN" sz="112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4450" y="18383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入口层</a:t>
              </a:r>
              <a:endParaRPr lang="zh-CN" sz="1500" b="1" dirty="0">
                <a:solidFill>
                  <a:srgbClr val="1F3A5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20165" y="2125028"/>
              <a:ext cx="31280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CLI 与 Web 双入口，覆盖本地开发与云端服务场景</a:t>
              </a:r>
              <a:endParaRPr lang="zh-CN" sz="1050" dirty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096125" y="1895475"/>
              <a:ext cx="800100" cy="2667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27010" y="1980724"/>
              <a:ext cx="5383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Click CLI</a:t>
              </a:r>
              <a:endParaRPr lang="zh-CN" sz="975" dirty="0">
                <a:solidFill>
                  <a:srgbClr val="2563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991475" y="1895475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26426" y="1980724"/>
              <a:ext cx="254000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975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Web</a:t>
              </a:r>
              <a:endParaRPr lang="en-US" altLang="zh-CN" sz="975" dirty="0">
                <a:solidFill>
                  <a:srgbClr val="2563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  <a:p>
              <a:pPr algn="ctr"/>
              <a:endParaRPr lang="zh-CN" sz="975" dirty="0">
                <a:solidFill>
                  <a:srgbClr val="2563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33" name="Line 33"/>
          <p:cNvSpPr/>
          <p:nvPr/>
        </p:nvSpPr>
        <p:spPr>
          <a:xfrm>
            <a:off x="6096000" y="2409825"/>
            <a:ext cx="1" cy="76200"/>
          </a:xfrm>
          <a:prstGeom prst="line">
            <a:avLst/>
          </a:prstGeom>
          <a:noFill/>
          <a:ln w="14288">
            <a:solidFill>
              <a:srgbClr val="94A3B8"/>
            </a:solidFill>
            <a:tailEnd type="triangle" w="lg" len="lg"/>
          </a:ln>
        </p:spPr>
      </p:sp>
      <p:grpSp>
        <p:nvGrpSpPr>
          <p:cNvPr id="46" name="Group 46"/>
          <p:cNvGrpSpPr/>
          <p:nvPr/>
        </p:nvGrpSpPr>
        <p:grpSpPr>
          <a:xfrm>
            <a:off x="571500" y="2533650"/>
            <a:ext cx="11049000" cy="742950"/>
            <a:chOff x="571500" y="2533650"/>
            <a:chExt cx="11049000" cy="742950"/>
          </a:xfrm>
        </p:grpSpPr>
        <p:sp>
          <p:nvSpPr>
            <p:cNvPr id="34" name="Rectangle 34"/>
            <p:cNvSpPr/>
            <p:nvPr/>
          </p:nvSpPr>
          <p:spPr>
            <a:xfrm>
              <a:off x="571500" y="2533650"/>
              <a:ext cx="11049000" cy="742950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35" name="Rectangle 35"/>
            <p:cNvSpPr/>
            <p:nvPr/>
          </p:nvSpPr>
          <p:spPr>
            <a:xfrm>
              <a:off x="571500" y="2533650"/>
              <a:ext cx="47625" cy="742950"/>
            </a:xfrm>
            <a:prstGeom prst="roundRect">
              <a:avLst>
                <a:gd name="adj" fmla="val 5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81050" y="2705100"/>
              <a:ext cx="400050" cy="400050"/>
            </a:xfrm>
            <a:prstGeom prst="roundRect">
              <a:avLst>
                <a:gd name="adj" fmla="val 2381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80152" y="28408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L2</a:t>
              </a:r>
              <a:endParaRPr lang="zh-CN" sz="112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14450" y="27146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数据获取层</a:t>
              </a:r>
              <a:endParaRPr lang="zh-CN" sz="1500" b="1" dirty="0">
                <a:solidFill>
                  <a:srgbClr val="1F3A5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20165" y="3001328"/>
              <a:ext cx="33030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从 GitHub 拉取 PR Diff、提交记录与 Issue 关联数据</a:t>
              </a:r>
              <a:endParaRPr lang="zh-CN" sz="1050" dirty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000875" y="2771775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325682" y="2857024"/>
              <a:ext cx="569595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975" dirty="0">
                  <a:solidFill>
                    <a:srgbClr val="0596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PyGithub </a:t>
              </a:r>
              <a:endParaRPr lang="en-US" altLang="zh-CN" sz="975" dirty="0">
                <a:solidFill>
                  <a:srgbClr val="0596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354060" y="2802890"/>
              <a:ext cx="781050" cy="266700"/>
            </a:xfrm>
            <a:prstGeom prst="roundRect">
              <a:avLst>
                <a:gd name="adj" fmla="val 50000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34963" y="2871629"/>
              <a:ext cx="5773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596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Diff 解析</a:t>
              </a:r>
              <a:endParaRPr lang="zh-CN" sz="975" dirty="0">
                <a:solidFill>
                  <a:srgbClr val="0596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47" name="Line 47"/>
          <p:cNvSpPr/>
          <p:nvPr/>
        </p:nvSpPr>
        <p:spPr>
          <a:xfrm>
            <a:off x="6096000" y="3286125"/>
            <a:ext cx="1" cy="76200"/>
          </a:xfrm>
          <a:prstGeom prst="line">
            <a:avLst/>
          </a:prstGeom>
          <a:noFill/>
          <a:ln w="14288">
            <a:solidFill>
              <a:srgbClr val="94A3B8"/>
            </a:solidFill>
            <a:tailEnd type="triangle" w="lg" len="lg"/>
          </a:ln>
        </p:spPr>
      </p:sp>
      <p:grpSp>
        <p:nvGrpSpPr>
          <p:cNvPr id="60" name="Group 60"/>
          <p:cNvGrpSpPr/>
          <p:nvPr/>
        </p:nvGrpSpPr>
        <p:grpSpPr>
          <a:xfrm>
            <a:off x="571500" y="3409950"/>
            <a:ext cx="11049000" cy="742950"/>
            <a:chOff x="571500" y="3409950"/>
            <a:chExt cx="11049000" cy="742950"/>
          </a:xfrm>
        </p:grpSpPr>
        <p:sp>
          <p:nvSpPr>
            <p:cNvPr id="48" name="Rectangle 48"/>
            <p:cNvSpPr/>
            <p:nvPr/>
          </p:nvSpPr>
          <p:spPr>
            <a:xfrm>
              <a:off x="571500" y="3409950"/>
              <a:ext cx="11049000" cy="742950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4288">
              <a:solidFill>
                <a:srgbClr val="2563EB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49" name="Rectangle 49"/>
            <p:cNvSpPr/>
            <p:nvPr/>
          </p:nvSpPr>
          <p:spPr>
            <a:xfrm>
              <a:off x="571500" y="3409950"/>
              <a:ext cx="47625" cy="7429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81050" y="3581400"/>
              <a:ext cx="400050" cy="400050"/>
            </a:xfrm>
            <a:prstGeom prst="roundRect">
              <a:avLst>
                <a:gd name="adj" fmla="val 2381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80152" y="37171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L3</a:t>
              </a:r>
              <a:endParaRPr lang="zh-CN" sz="112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314450" y="3609975"/>
              <a:ext cx="12667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数据处理层 ★</a:t>
              </a:r>
              <a:endParaRPr lang="zh-CN" sz="1500" b="1" dirty="0">
                <a:solidFill>
                  <a:srgbClr val="1F3A5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20165" y="3896678"/>
              <a:ext cx="284988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过滤无关文件、压缩 Diff 体积、估算 Token 用量</a:t>
              </a:r>
              <a:endParaRPr lang="zh-CN" sz="1050" dirty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000875" y="3648075"/>
              <a:ext cx="704850" cy="2667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71134" y="3733324"/>
              <a:ext cx="564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A56D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tiktoken</a:t>
              </a:r>
              <a:endParaRPr lang="zh-CN" sz="975" dirty="0">
                <a:solidFill>
                  <a:srgbClr val="1A56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800975" y="3648075"/>
              <a:ext cx="1047750" cy="2667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906167" y="3733324"/>
              <a:ext cx="8373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A56D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Diff 四级压缩</a:t>
              </a:r>
              <a:endParaRPr lang="zh-CN" sz="975" dirty="0">
                <a:solidFill>
                  <a:srgbClr val="1A56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61" name="Line 61"/>
          <p:cNvSpPr/>
          <p:nvPr/>
        </p:nvSpPr>
        <p:spPr>
          <a:xfrm>
            <a:off x="6096000" y="4162425"/>
            <a:ext cx="1" cy="76200"/>
          </a:xfrm>
          <a:prstGeom prst="line">
            <a:avLst/>
          </a:prstGeom>
          <a:noFill/>
          <a:ln w="14288">
            <a:solidFill>
              <a:srgbClr val="94A3B8"/>
            </a:solidFill>
            <a:tailEnd type="triangle" w="lg" len="lg"/>
          </a:ln>
        </p:spPr>
      </p:sp>
      <p:grpSp>
        <p:nvGrpSpPr>
          <p:cNvPr id="74" name="Group 74"/>
          <p:cNvGrpSpPr/>
          <p:nvPr/>
        </p:nvGrpSpPr>
        <p:grpSpPr>
          <a:xfrm>
            <a:off x="571500" y="4286250"/>
            <a:ext cx="11049000" cy="742950"/>
            <a:chOff x="571500" y="4286250"/>
            <a:chExt cx="11049000" cy="742950"/>
          </a:xfrm>
        </p:grpSpPr>
        <p:sp>
          <p:nvSpPr>
            <p:cNvPr id="62" name="Rectangle 62"/>
            <p:cNvSpPr/>
            <p:nvPr/>
          </p:nvSpPr>
          <p:spPr>
            <a:xfrm>
              <a:off x="571500" y="4286250"/>
              <a:ext cx="11049000" cy="742950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63" name="Rectangle 63"/>
            <p:cNvSpPr/>
            <p:nvPr/>
          </p:nvSpPr>
          <p:spPr>
            <a:xfrm>
              <a:off x="571500" y="4286250"/>
              <a:ext cx="47625" cy="7429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81050" y="4457700"/>
              <a:ext cx="400050" cy="400050"/>
            </a:xfrm>
            <a:prstGeom prst="roundRect">
              <a:avLst>
                <a:gd name="adj" fmla="val 2381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80152" y="45934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L4</a:t>
              </a:r>
              <a:endParaRPr lang="zh-CN" sz="112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314450" y="4486275"/>
              <a:ext cx="9097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AI 引擎层</a:t>
              </a:r>
              <a:endParaRPr lang="zh-CN" sz="1500" b="1" dirty="0">
                <a:solidFill>
                  <a:srgbClr val="1F3A5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320165" y="4772978"/>
              <a:ext cx="247459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多模型</a:t>
              </a:r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选择、Prompt 模板构建、流式解析</a:t>
              </a:r>
              <a:endParaRPr lang="zh-CN" sz="1050" dirty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096125" y="4524375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198662" y="4609624"/>
              <a:ext cx="5188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B4530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LiteLLM</a:t>
              </a:r>
              <a:endParaRPr lang="zh-CN" sz="975" dirty="0">
                <a:solidFill>
                  <a:srgbClr val="B4530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915275" y="4524375"/>
              <a:ext cx="971550" cy="26670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011620" y="4609624"/>
              <a:ext cx="7788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B4530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Prompt 引擎</a:t>
              </a:r>
              <a:endParaRPr lang="zh-CN" sz="975" dirty="0">
                <a:solidFill>
                  <a:srgbClr val="B4530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261475" y="4609624"/>
              <a:ext cx="12700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975" dirty="0">
                <a:solidFill>
                  <a:srgbClr val="B4530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75" name="Line 75"/>
          <p:cNvSpPr/>
          <p:nvPr/>
        </p:nvSpPr>
        <p:spPr>
          <a:xfrm>
            <a:off x="6096000" y="5038725"/>
            <a:ext cx="1" cy="76200"/>
          </a:xfrm>
          <a:prstGeom prst="line">
            <a:avLst/>
          </a:prstGeom>
          <a:noFill/>
          <a:ln w="14288">
            <a:solidFill>
              <a:srgbClr val="94A3B8"/>
            </a:solidFill>
            <a:tailEnd type="triangle" w="lg" len="lg"/>
          </a:ln>
        </p:spPr>
      </p:sp>
      <p:grpSp>
        <p:nvGrpSpPr>
          <p:cNvPr id="88" name="Group 88"/>
          <p:cNvGrpSpPr/>
          <p:nvPr/>
        </p:nvGrpSpPr>
        <p:grpSpPr>
          <a:xfrm>
            <a:off x="571500" y="5162550"/>
            <a:ext cx="11049000" cy="742950"/>
            <a:chOff x="571500" y="5162550"/>
            <a:chExt cx="11049000" cy="742950"/>
          </a:xfrm>
        </p:grpSpPr>
        <p:sp>
          <p:nvSpPr>
            <p:cNvPr id="76" name="Rectangle 76"/>
            <p:cNvSpPr/>
            <p:nvPr/>
          </p:nvSpPr>
          <p:spPr>
            <a:xfrm>
              <a:off x="571500" y="5162550"/>
              <a:ext cx="11049000" cy="742950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77" name="Rectangle 77"/>
            <p:cNvSpPr/>
            <p:nvPr/>
          </p:nvSpPr>
          <p:spPr>
            <a:xfrm>
              <a:off x="571500" y="5162550"/>
              <a:ext cx="47625" cy="74295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781050" y="5334000"/>
              <a:ext cx="400050" cy="400050"/>
            </a:xfrm>
            <a:prstGeom prst="roundRect">
              <a:avLst>
                <a:gd name="adj" fmla="val 23810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80152" y="54697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L5</a:t>
              </a:r>
              <a:endParaRPr lang="zh-CN" sz="112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314450" y="53625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3A5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输出与发布层</a:t>
              </a:r>
              <a:endParaRPr lang="zh-CN" sz="1500" b="1" dirty="0">
                <a:solidFill>
                  <a:srgbClr val="1F3A5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320165" y="5649278"/>
              <a:ext cx="317944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统一格式输出，一键发布到 GitHub PR，记录审查</a:t>
              </a:r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结果</a:t>
              </a:r>
              <a:endParaRPr lang="zh-CN" sz="1050" dirty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7000875" y="5400675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FEF2F2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216141" y="5485924"/>
              <a:ext cx="25527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DC2626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URF </a:t>
              </a:r>
              <a:endParaRPr lang="zh-CN" sz="975" dirty="0">
                <a:solidFill>
                  <a:srgbClr val="DC262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781925" y="5400675"/>
              <a:ext cx="1123950" cy="266700"/>
            </a:xfrm>
            <a:prstGeom prst="roundRect">
              <a:avLst>
                <a:gd name="adj" fmla="val 50000"/>
              </a:avLst>
            </a:prstGeom>
            <a:solidFill>
              <a:srgbClr val="FEF2F2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850457" y="5485924"/>
              <a:ext cx="9868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DC2626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QualityTracker</a:t>
              </a:r>
              <a:endParaRPr lang="zh-CN" sz="975" dirty="0">
                <a:solidFill>
                  <a:srgbClr val="DC262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213850" y="5485924"/>
              <a:ext cx="12700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975" dirty="0">
                <a:solidFill>
                  <a:srgbClr val="DC262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2667000" y="6172200"/>
            <a:ext cx="6858000" cy="400050"/>
            <a:chOff x="2667000" y="6172200"/>
            <a:chExt cx="6858000" cy="400050"/>
          </a:xfrm>
        </p:grpSpPr>
        <p:sp>
          <p:nvSpPr>
            <p:cNvPr id="89" name="Rectangle 89"/>
            <p:cNvSpPr/>
            <p:nvPr/>
          </p:nvSpPr>
          <p:spPr>
            <a:xfrm>
              <a:off x="2667000" y="6172200"/>
              <a:ext cx="6858000" cy="40005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4707353" y="6317456"/>
              <a:ext cx="27772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56D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从代码变更到 AI 审查结果的全自动闭环</a:t>
              </a:r>
              <a:endParaRPr lang="zh-CN" sz="1125" b="1" dirty="0">
                <a:solidFill>
                  <a:srgbClr val="1A56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2" grpId="0"/>
      <p:bldP spid="46" grpId="0"/>
      <p:bldP spid="60" grpId="0"/>
      <p:bldP spid="74" grpId="0"/>
      <p:bldP spid="88" grpId="0"/>
      <p:bldP spid="9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457200"/>
            <a:ext cx="2924174" cy="678656"/>
            <a:chOff x="762000" y="457200"/>
            <a:chExt cx="2924174" cy="678656"/>
          </a:xfrm>
        </p:grpSpPr>
        <p:sp>
          <p:nvSpPr>
            <p:cNvPr id="3" name="Rectangle 3"/>
            <p:cNvSpPr/>
            <p:nvPr/>
          </p:nvSpPr>
          <p:spPr>
            <a:xfrm>
              <a:off x="762000" y="457200"/>
              <a:ext cx="47625" cy="533400"/>
            </a:xfrm>
            <a:prstGeom prst="roundRect">
              <a:avLst>
                <a:gd name="adj" fmla="val 50000"/>
              </a:avLst>
            </a:prstGeom>
            <a:solidFill>
              <a:srgbClr val="1A56D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9165" y="46767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四大核心创新</a:t>
              </a:r>
              <a:endParaRPr lang="zh-CN" sz="25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57262" y="907256"/>
              <a:ext cx="2728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每一项都精准解决代码审查中的真实痛点</a:t>
              </a:r>
              <a:endParaRPr lang="zh-CN" sz="1125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81000" y="1428750"/>
            <a:ext cx="2714625" cy="4000500"/>
            <a:chOff x="381000" y="1428750"/>
            <a:chExt cx="2714625" cy="4000500"/>
          </a:xfrm>
        </p:grpSpPr>
        <p:sp>
          <p:nvSpPr>
            <p:cNvPr id="7" name="Rectangle 7"/>
            <p:cNvSpPr/>
            <p:nvPr/>
          </p:nvSpPr>
          <p:spPr>
            <a:xfrm>
              <a:off x="381000" y="1428750"/>
              <a:ext cx="2714625" cy="400050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14288">
              <a:solidFill>
                <a:srgbClr val="10B98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81000" y="1428750"/>
              <a:ext cx="2714625" cy="285750"/>
            </a:xfrm>
            <a:custGeom>
              <a:avLst/>
              <a:gdLst/>
              <a:ahLst/>
              <a:cxnLst/>
              <a:rect l="l" t="t" r="r" b="b"/>
              <a:pathLst>
                <a:path w="2714625" h="285750">
                  <a:moveTo>
                    <a:pt x="0" y="114300"/>
                  </a:moveTo>
                  <a:cubicBezTo>
                    <a:pt x="0" y="51174"/>
                    <a:pt x="51174" y="0"/>
                    <a:pt x="114300" y="0"/>
                  </a:cubicBezTo>
                  <a:lnTo>
                    <a:pt x="2600325" y="0"/>
                  </a:lnTo>
                  <a:cubicBezTo>
                    <a:pt x="2663451" y="0"/>
                    <a:pt x="2714625" y="51174"/>
                    <a:pt x="2714625" y="114300"/>
                  </a:cubicBezTo>
                  <a:lnTo>
                    <a:pt x="2714625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26631" y="1516539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创新 ①</a:t>
              </a:r>
              <a:endParaRPr lang="zh-CN" sz="97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276350" y="1962150"/>
              <a:ext cx="457200" cy="371475"/>
              <a:chOff x="1276350" y="1962150"/>
              <a:chExt cx="457200" cy="3714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276350" y="1962150"/>
                <a:ext cx="4572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85725">
                    <a:moveTo>
                      <a:pt x="457200" y="0"/>
                    </a:moveTo>
                    <a:lnTo>
                      <a:pt x="0" y="0"/>
                    </a:lnTo>
                    <a:lnTo>
                      <a:pt x="0" y="85725"/>
                    </a:lnTo>
                    <a:lnTo>
                      <a:pt x="457200" y="85725"/>
                    </a:lnTo>
                    <a:lnTo>
                      <a:pt x="457200" y="0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304925" y="2105025"/>
                <a:ext cx="4000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2286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57150"/>
                    </a:lnTo>
                    <a:lnTo>
                      <a:pt x="285750" y="57150"/>
                    </a:lnTo>
                    <a:lnTo>
                      <a:pt x="285750" y="0"/>
                    </a:lnTo>
                    <a:lnTo>
                      <a:pt x="400050" y="0"/>
                    </a:lnTo>
                    <a:lnTo>
                      <a:pt x="400050" y="228600"/>
                    </a:lnTo>
                    <a:lnTo>
                      <a:pt x="0" y="228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291462" y="2465546"/>
              <a:ext cx="88417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Diff 压缩</a:t>
              </a:r>
              <a:endParaRPr lang="zh-CN" sz="1425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666750" y="2781300"/>
              <a:ext cx="2143125" cy="9525"/>
            </a:xfrm>
            <a:custGeom>
              <a:avLst/>
              <a:gdLst/>
              <a:ahLst/>
              <a:cxnLst/>
              <a:rect l="l" t="t" r="r" b="b"/>
              <a:pathLst>
                <a:path w="2143125" h="95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3415" y="2953702"/>
              <a:ext cx="1083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4级智能压缩策略</a:t>
              </a:r>
              <a:endParaRPr lang="zh-CN" sz="1050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3415" y="3220402"/>
              <a:ext cx="12518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Level 0-3 逐级裁剪</a:t>
              </a:r>
              <a:endParaRPr lang="zh-CN" sz="1050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3415" y="34871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050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3415" y="3830002"/>
              <a:ext cx="162369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0B98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压缩内容，</a:t>
              </a:r>
              <a:r>
                <a:rPr lang="zh-CN" sz="1050" b="1" dirty="0">
                  <a:solidFill>
                    <a:srgbClr val="10B98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降低Token 预算</a:t>
              </a:r>
              <a:endParaRPr lang="zh-CN" sz="1050" b="1" dirty="0">
                <a:solidFill>
                  <a:srgbClr val="10B98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286125" y="1428750"/>
            <a:ext cx="2714625" cy="4000500"/>
            <a:chOff x="3286125" y="1428750"/>
            <a:chExt cx="2714625" cy="4000500"/>
          </a:xfrm>
        </p:grpSpPr>
        <p:sp>
          <p:nvSpPr>
            <p:cNvPr id="20" name="Rectangle 20"/>
            <p:cNvSpPr/>
            <p:nvPr/>
          </p:nvSpPr>
          <p:spPr>
            <a:xfrm>
              <a:off x="3286125" y="1428750"/>
              <a:ext cx="2714625" cy="400050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14288">
              <a:solidFill>
                <a:srgbClr val="F59E0B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286125" y="1428750"/>
              <a:ext cx="2714625" cy="285750"/>
            </a:xfrm>
            <a:custGeom>
              <a:avLst/>
              <a:gdLst/>
              <a:ahLst/>
              <a:cxnLst/>
              <a:rect l="l" t="t" r="r" b="b"/>
              <a:pathLst>
                <a:path w="2714625" h="285750">
                  <a:moveTo>
                    <a:pt x="0" y="114300"/>
                  </a:moveTo>
                  <a:cubicBezTo>
                    <a:pt x="0" y="51174"/>
                    <a:pt x="51174" y="0"/>
                    <a:pt x="114300" y="0"/>
                  </a:cubicBezTo>
                  <a:lnTo>
                    <a:pt x="2600325" y="0"/>
                  </a:lnTo>
                  <a:cubicBezTo>
                    <a:pt x="2663451" y="0"/>
                    <a:pt x="2714625" y="51174"/>
                    <a:pt x="2714625" y="114300"/>
                  </a:cubicBezTo>
                  <a:lnTo>
                    <a:pt x="2714625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431756" y="1516539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创新 ②</a:t>
              </a:r>
              <a:endParaRPr lang="zh-CN" sz="97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4238625" y="1905000"/>
              <a:ext cx="342900" cy="457200"/>
              <a:chOff x="4238625" y="1905000"/>
              <a:chExt cx="342900" cy="4572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238625" y="2087880"/>
                <a:ext cx="34290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31445">
                    <a:moveTo>
                      <a:pt x="318243" y="14578"/>
                    </a:moveTo>
                    <a:cubicBezTo>
                      <a:pt x="326281" y="10558"/>
                      <a:pt x="334679" y="5709"/>
                      <a:pt x="342900" y="0"/>
                    </a:cubicBezTo>
                    <a:lnTo>
                      <a:pt x="342900" y="45720"/>
                    </a:lnTo>
                    <a:cubicBezTo>
                      <a:pt x="342900" y="93064"/>
                      <a:pt x="266139" y="131445"/>
                      <a:pt x="171450" y="131445"/>
                    </a:cubicBezTo>
                    <a:cubicBezTo>
                      <a:pt x="76761" y="131445"/>
                      <a:pt x="0" y="93064"/>
                      <a:pt x="0" y="45720"/>
                    </a:cubicBezTo>
                    <a:lnTo>
                      <a:pt x="0" y="0"/>
                    </a:lnTo>
                    <a:cubicBezTo>
                      <a:pt x="8222" y="5709"/>
                      <a:pt x="16619" y="10558"/>
                      <a:pt x="24658" y="14578"/>
                    </a:cubicBezTo>
                    <a:cubicBezTo>
                      <a:pt x="65178" y="34838"/>
                      <a:pt x="117157" y="45720"/>
                      <a:pt x="171450" y="45720"/>
                    </a:cubicBezTo>
                    <a:cubicBezTo>
                      <a:pt x="225743" y="45720"/>
                      <a:pt x="277720" y="34838"/>
                      <a:pt x="318243" y="14578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238625" y="2230755"/>
                <a:ext cx="34290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31445">
                    <a:moveTo>
                      <a:pt x="0" y="0"/>
                    </a:moveTo>
                    <a:lnTo>
                      <a:pt x="0" y="45720"/>
                    </a:lnTo>
                    <a:cubicBezTo>
                      <a:pt x="0" y="93066"/>
                      <a:pt x="76761" y="131445"/>
                      <a:pt x="171450" y="131445"/>
                    </a:cubicBezTo>
                    <a:cubicBezTo>
                      <a:pt x="266139" y="131445"/>
                      <a:pt x="342900" y="93066"/>
                      <a:pt x="342900" y="45720"/>
                    </a:cubicBezTo>
                    <a:lnTo>
                      <a:pt x="342900" y="0"/>
                    </a:lnTo>
                    <a:cubicBezTo>
                      <a:pt x="334679" y="5709"/>
                      <a:pt x="326281" y="10558"/>
                      <a:pt x="318243" y="14579"/>
                    </a:cubicBezTo>
                    <a:cubicBezTo>
                      <a:pt x="277720" y="34839"/>
                      <a:pt x="225743" y="45720"/>
                      <a:pt x="171450" y="45720"/>
                    </a:cubicBezTo>
                    <a:cubicBezTo>
                      <a:pt x="117157" y="45720"/>
                      <a:pt x="65178" y="34839"/>
                      <a:pt x="24658" y="14579"/>
                    </a:cubicBezTo>
                    <a:cubicBezTo>
                      <a:pt x="16619" y="10558"/>
                      <a:pt x="8222" y="5709"/>
                      <a:pt x="0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238625" y="1905000"/>
                <a:ext cx="342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71450">
                    <a:moveTo>
                      <a:pt x="171450" y="0"/>
                    </a:moveTo>
                    <a:cubicBezTo>
                      <a:pt x="266139" y="0"/>
                      <a:pt x="342900" y="38381"/>
                      <a:pt x="342900" y="85725"/>
                    </a:cubicBezTo>
                    <a:cubicBezTo>
                      <a:pt x="342900" y="133069"/>
                      <a:pt x="266139" y="171450"/>
                      <a:pt x="171450" y="171450"/>
                    </a:cubicBezTo>
                    <a:cubicBezTo>
                      <a:pt x="76761" y="171450"/>
                      <a:pt x="0" y="133069"/>
                      <a:pt x="0" y="85725"/>
                    </a:cubicBezTo>
                    <a:cubicBezTo>
                      <a:pt x="0" y="3838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221528" y="2465546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智能缓存</a:t>
              </a:r>
              <a:endParaRPr lang="zh-CN" sz="1425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8" name="Line 28"/>
            <p:cNvSpPr/>
            <p:nvPr/>
          </p:nvSpPr>
          <p:spPr>
            <a:xfrm>
              <a:off x="3571875" y="2781300"/>
              <a:ext cx="2143125" cy="9525"/>
            </a:xfrm>
            <a:custGeom>
              <a:avLst/>
              <a:gdLst/>
              <a:ahLst/>
              <a:cxnLst/>
              <a:rect l="l" t="t" r="r" b="b"/>
              <a:pathLst>
                <a:path w="2143125" h="95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58540" y="2953702"/>
              <a:ext cx="12518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Commit 级结果缓存</a:t>
              </a:r>
              <a:endParaRPr lang="zh-CN" sz="1050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71875" y="3220402"/>
              <a:ext cx="1083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命中→零延迟响应</a:t>
              </a:r>
              <a:endParaRPr lang="zh-CN" sz="1050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58540" y="3830002"/>
              <a:ext cx="101028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避免 AI 重复调用</a:t>
              </a:r>
              <a:endParaRPr lang="zh-CN" sz="1050" b="1" dirty="0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191250" y="1428750"/>
            <a:ext cx="2714625" cy="4000500"/>
            <a:chOff x="6191250" y="1428750"/>
            <a:chExt cx="2714625" cy="4000500"/>
          </a:xfrm>
        </p:grpSpPr>
        <p:sp>
          <p:nvSpPr>
            <p:cNvPr id="34" name="Rectangle 34"/>
            <p:cNvSpPr/>
            <p:nvPr/>
          </p:nvSpPr>
          <p:spPr>
            <a:xfrm>
              <a:off x="6191250" y="1428750"/>
              <a:ext cx="2714625" cy="400050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14288">
              <a:solidFill>
                <a:srgbClr val="EF4444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191250" y="1428750"/>
              <a:ext cx="2714625" cy="285750"/>
            </a:xfrm>
            <a:custGeom>
              <a:avLst/>
              <a:gdLst/>
              <a:ahLst/>
              <a:cxnLst/>
              <a:rect l="l" t="t" r="r" b="b"/>
              <a:pathLst>
                <a:path w="2714625" h="285750">
                  <a:moveTo>
                    <a:pt x="0" y="114300"/>
                  </a:moveTo>
                  <a:cubicBezTo>
                    <a:pt x="0" y="51174"/>
                    <a:pt x="51174" y="0"/>
                    <a:pt x="114300" y="0"/>
                  </a:cubicBezTo>
                  <a:lnTo>
                    <a:pt x="2600325" y="0"/>
                  </a:lnTo>
                  <a:cubicBezTo>
                    <a:pt x="2663451" y="0"/>
                    <a:pt x="2714625" y="51174"/>
                    <a:pt x="2714625" y="114300"/>
                  </a:cubicBezTo>
                  <a:lnTo>
                    <a:pt x="2714625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36881" y="1516539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创新 ③</a:t>
              </a:r>
              <a:endParaRPr lang="zh-CN" sz="97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7086600" y="1933575"/>
              <a:ext cx="457200" cy="400050"/>
              <a:chOff x="7086600" y="1933575"/>
              <a:chExt cx="457200" cy="4000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172325" y="193357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EF4444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086600" y="2133600"/>
                <a:ext cx="2286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00025">
                    <a:moveTo>
                      <a:pt x="85725" y="0"/>
                    </a:moveTo>
                    <a:cubicBezTo>
                      <a:pt x="38381" y="0"/>
                      <a:pt x="0" y="38381"/>
                      <a:pt x="0" y="85725"/>
                    </a:cubicBezTo>
                    <a:lnTo>
                      <a:pt x="0" y="200025"/>
                    </a:lnTo>
                    <a:lnTo>
                      <a:pt x="228600" y="200025"/>
                    </a:lnTo>
                    <a:lnTo>
                      <a:pt x="228600" y="0"/>
                    </a:lnTo>
                    <a:lnTo>
                      <a:pt x="85725" y="0"/>
                    </a:lnTo>
                    <a:close/>
                  </a:path>
                </a:pathLst>
              </a:custGeom>
              <a:solidFill>
                <a:srgbClr val="EF4444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372350" y="2133600"/>
                <a:ext cx="1714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00025">
                    <a:moveTo>
                      <a:pt x="85725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171450" y="200025"/>
                    </a:lnTo>
                    <a:lnTo>
                      <a:pt x="171450" y="85725"/>
                    </a:lnTo>
                    <a:cubicBezTo>
                      <a:pt x="171450" y="38381"/>
                      <a:pt x="133071" y="0"/>
                      <a:pt x="85725" y="0"/>
                    </a:cubicBezTo>
                    <a:close/>
                  </a:path>
                </a:pathLst>
              </a:custGeom>
              <a:solidFill>
                <a:srgbClr val="EF4444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372350" y="19621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57150" y="114300"/>
                    </a:moveTo>
                    <a:cubicBezTo>
                      <a:pt x="88714" y="114300"/>
                      <a:pt x="114300" y="88713"/>
                      <a:pt x="114300" y="57150"/>
                    </a:cubicBezTo>
                    <a:cubicBezTo>
                      <a:pt x="114300" y="25587"/>
                      <a:pt x="88714" y="0"/>
                      <a:pt x="57150" y="0"/>
                    </a:cubicBezTo>
                    <a:cubicBezTo>
                      <a:pt x="25586" y="0"/>
                      <a:pt x="0" y="25587"/>
                      <a:pt x="0" y="57150"/>
                    </a:cubicBezTo>
                    <a:cubicBezTo>
                      <a:pt x="0" y="88713"/>
                      <a:pt x="25586" y="114300"/>
                      <a:pt x="57150" y="114300"/>
                    </a:cubicBezTo>
                    <a:close/>
                  </a:path>
                </a:pathLst>
              </a:custGeom>
              <a:solidFill>
                <a:srgbClr val="EF4444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126653" y="2465546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人机协同</a:t>
              </a:r>
              <a:endParaRPr lang="zh-CN" sz="1425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6477000" y="2781300"/>
              <a:ext cx="2143125" cy="9525"/>
            </a:xfrm>
            <a:custGeom>
              <a:avLst/>
              <a:gdLst/>
              <a:ahLst/>
              <a:cxnLst/>
              <a:rect l="l" t="t" r="r" b="b"/>
              <a:pathLst>
                <a:path w="2143125" h="95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63665" y="2953702"/>
              <a:ext cx="747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AI 生成草稿</a:t>
              </a:r>
              <a:endParaRPr lang="zh-CN" sz="1050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3665" y="32204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人工 checkbox 确认</a:t>
              </a:r>
              <a:endParaRPr lang="zh-CN" sz="1050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63665" y="3487102"/>
              <a:ext cx="1293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finding-id 精确追踪</a:t>
              </a:r>
              <a:endParaRPr lang="zh-CN" sz="1050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63665" y="3830002"/>
              <a:ext cx="18669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F4444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人机互补，提高</a:t>
              </a:r>
              <a:r>
                <a:rPr lang="zh-CN" sz="1050" b="1" dirty="0">
                  <a:solidFill>
                    <a:srgbClr val="EF4444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审查结果</a:t>
              </a:r>
              <a:r>
                <a:rPr lang="zh-CN" sz="1050" b="1" dirty="0">
                  <a:solidFill>
                    <a:srgbClr val="EF4444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可信度</a:t>
              </a:r>
              <a:endParaRPr lang="zh-CN" sz="1050" b="1" dirty="0">
                <a:solidFill>
                  <a:srgbClr val="EF444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096375" y="1428750"/>
            <a:ext cx="2714625" cy="4000500"/>
            <a:chOff x="9096375" y="1428750"/>
            <a:chExt cx="2714625" cy="4000500"/>
          </a:xfrm>
        </p:grpSpPr>
        <p:sp>
          <p:nvSpPr>
            <p:cNvPr id="49" name="Rectangle 49"/>
            <p:cNvSpPr/>
            <p:nvPr/>
          </p:nvSpPr>
          <p:spPr>
            <a:xfrm>
              <a:off x="9096375" y="1428750"/>
              <a:ext cx="2714625" cy="400050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14288">
              <a:solidFill>
                <a:srgbClr val="8B5CF6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096375" y="1428750"/>
              <a:ext cx="2714625" cy="285750"/>
            </a:xfrm>
            <a:custGeom>
              <a:avLst/>
              <a:gdLst/>
              <a:ahLst/>
              <a:cxnLst/>
              <a:rect l="l" t="t" r="r" b="b"/>
              <a:pathLst>
                <a:path w="2714625" h="285750">
                  <a:moveTo>
                    <a:pt x="0" y="114300"/>
                  </a:moveTo>
                  <a:cubicBezTo>
                    <a:pt x="0" y="51174"/>
                    <a:pt x="51174" y="0"/>
                    <a:pt x="114300" y="0"/>
                  </a:cubicBezTo>
                  <a:lnTo>
                    <a:pt x="2600325" y="0"/>
                  </a:lnTo>
                  <a:cubicBezTo>
                    <a:pt x="2663451" y="0"/>
                    <a:pt x="2714625" y="51174"/>
                    <a:pt x="2714625" y="114300"/>
                  </a:cubicBezTo>
                  <a:lnTo>
                    <a:pt x="2714625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242006" y="1516539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创新 ④</a:t>
              </a:r>
              <a:endParaRPr lang="zh-CN" sz="97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10220325" y="1905000"/>
              <a:ext cx="457200" cy="457200"/>
              <a:chOff x="10220325" y="1905000"/>
              <a:chExt cx="457200" cy="4572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10334625" y="20193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114300" y="0"/>
                    </a:moveTo>
                    <a:cubicBezTo>
                      <a:pt x="51174" y="0"/>
                      <a:pt x="0" y="51174"/>
                      <a:pt x="0" y="114300"/>
                    </a:cubicBezTo>
                    <a:cubicBezTo>
                      <a:pt x="0" y="177425"/>
                      <a:pt x="51174" y="228600"/>
                      <a:pt x="114300" y="228600"/>
                    </a:cubicBezTo>
                    <a:cubicBezTo>
                      <a:pt x="177425" y="228600"/>
                      <a:pt x="228600" y="177425"/>
                      <a:pt x="228600" y="114300"/>
                    </a:cubicBezTo>
                    <a:cubicBezTo>
                      <a:pt x="228600" y="51174"/>
                      <a:pt x="177425" y="0"/>
                      <a:pt x="114300" y="0"/>
                    </a:cubicBezTo>
                    <a:close/>
                    <a:moveTo>
                      <a:pt x="57150" y="114300"/>
                    </a:moveTo>
                    <a:cubicBezTo>
                      <a:pt x="57150" y="82737"/>
                      <a:pt x="82737" y="57150"/>
                      <a:pt x="114300" y="57150"/>
                    </a:cubicBezTo>
                    <a:cubicBezTo>
                      <a:pt x="145863" y="57150"/>
                      <a:pt x="171450" y="82737"/>
                      <a:pt x="171450" y="114300"/>
                    </a:cubicBezTo>
                    <a:cubicBezTo>
                      <a:pt x="171450" y="145863"/>
                      <a:pt x="145863" y="171450"/>
                      <a:pt x="114300" y="171450"/>
                    </a:cubicBezTo>
                    <a:cubicBezTo>
                      <a:pt x="82737" y="171450"/>
                      <a:pt x="57150" y="145863"/>
                      <a:pt x="57150" y="114300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0220325" y="19050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228600" y="0"/>
                    </a:moveTo>
                    <a:cubicBezTo>
                      <a:pt x="102348" y="0"/>
                      <a:pt x="0" y="102348"/>
                      <a:pt x="0" y="228600"/>
                    </a:cubicBezTo>
                    <a:cubicBezTo>
                      <a:pt x="0" y="354853"/>
                      <a:pt x="102348" y="457200"/>
                      <a:pt x="228600" y="457200"/>
                    </a:cubicBezTo>
                    <a:cubicBezTo>
                      <a:pt x="354853" y="457200"/>
                      <a:pt x="457200" y="354853"/>
                      <a:pt x="457200" y="228600"/>
                    </a:cubicBezTo>
                    <a:cubicBezTo>
                      <a:pt x="457200" y="102348"/>
                      <a:pt x="354853" y="0"/>
                      <a:pt x="228600" y="0"/>
                    </a:cubicBezTo>
                    <a:close/>
                    <a:moveTo>
                      <a:pt x="57150" y="228600"/>
                    </a:moveTo>
                    <a:cubicBezTo>
                      <a:pt x="57150" y="133911"/>
                      <a:pt x="133911" y="57150"/>
                      <a:pt x="228600" y="57150"/>
                    </a:cubicBezTo>
                    <a:cubicBezTo>
                      <a:pt x="323289" y="57150"/>
                      <a:pt x="400050" y="133911"/>
                      <a:pt x="400050" y="228600"/>
                    </a:cubicBezTo>
                    <a:cubicBezTo>
                      <a:pt x="400050" y="323289"/>
                      <a:pt x="323289" y="400050"/>
                      <a:pt x="228600" y="400050"/>
                    </a:cubicBezTo>
                    <a:cubicBezTo>
                      <a:pt x="133911" y="400050"/>
                      <a:pt x="57150" y="323289"/>
                      <a:pt x="57150" y="228600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085706" y="2465546"/>
              <a:ext cx="726440" cy="219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质量</a:t>
              </a:r>
              <a:r>
                <a:rPr lang="zh-CN" sz="14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追踪</a:t>
              </a:r>
              <a:endParaRPr lang="zh-CN" sz="1425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6" name="Line 56"/>
            <p:cNvSpPr/>
            <p:nvPr/>
          </p:nvSpPr>
          <p:spPr>
            <a:xfrm>
              <a:off x="9382125" y="2781300"/>
              <a:ext cx="2143125" cy="9525"/>
            </a:xfrm>
            <a:custGeom>
              <a:avLst/>
              <a:gdLst/>
              <a:ahLst/>
              <a:cxnLst/>
              <a:rect l="l" t="t" r="r" b="b"/>
              <a:pathLst>
                <a:path w="2143125" h="95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68790" y="32204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050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49765" y="2952750"/>
              <a:ext cx="1371600" cy="480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  <a:sym typeface="+mn-ea"/>
                </a:rPr>
                <a:t>人机协同提供学习样本</a:t>
              </a:r>
              <a:endParaRPr lang="zh-CN" sz="1050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  <a:sym typeface="+mn-ea"/>
              </a:endParaRPr>
            </a:p>
            <a:p>
              <a:pPr algn="l"/>
              <a:endParaRPr lang="zh-CN" sz="1050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QualityTracker 追踪</a:t>
              </a:r>
              <a:endParaRPr lang="zh-CN" sz="1050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68790" y="3830002"/>
              <a:ext cx="173355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5CF6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历史准确率统计，改进</a:t>
              </a:r>
              <a:r>
                <a:rPr lang="zh-CN" sz="1050" b="1" dirty="0">
                  <a:solidFill>
                    <a:srgbClr val="8B5CF6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提示词</a:t>
              </a:r>
              <a:endParaRPr lang="zh-CN" sz="1050" b="1" dirty="0">
                <a:solidFill>
                  <a:srgbClr val="8B5C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62" name="Rectangle 62"/>
          <p:cNvSpPr/>
          <p:nvPr/>
        </p:nvSpPr>
        <p:spPr>
          <a:xfrm>
            <a:off x="3238500" y="5715000"/>
            <a:ext cx="5715000" cy="3238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5248263" y="5838349"/>
            <a:ext cx="16954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56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👇 接下来逐一展开每一项创新</a:t>
            </a:r>
            <a:endParaRPr lang="zh-CN" sz="975" dirty="0">
              <a:solidFill>
                <a:srgbClr val="1A56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3" grpId="0"/>
      <p:bldP spid="48" grpId="0"/>
      <p:bldP spid="6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42900"/>
            <a:ext cx="4050101" cy="569119"/>
            <a:chOff x="762000" y="342900"/>
            <a:chExt cx="4050101" cy="569119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47625" cy="457200"/>
            </a:xfrm>
            <a:prstGeom prst="roundRect">
              <a:avLst>
                <a:gd name="adj" fmla="val 50000"/>
              </a:avLst>
            </a:prstGeom>
            <a:solidFill>
              <a:srgbClr val="1A56D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42975" y="347662"/>
              <a:ext cx="38691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核心创新①②：智能优化引擎</a:t>
              </a:r>
              <a:endParaRPr lang="zh-CN" sz="22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59168" y="713899"/>
              <a:ext cx="37302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Diff 4级压缩降低 Token 消耗 × Commit 级缓存避免重复 AI 调用</a:t>
              </a:r>
              <a:endParaRPr lang="zh-CN" sz="975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1095375"/>
            <a:ext cx="5619750" cy="4953000"/>
            <a:chOff x="381000" y="1095375"/>
            <a:chExt cx="5619750" cy="4953000"/>
          </a:xfrm>
        </p:grpSpPr>
        <p:sp>
          <p:nvSpPr>
            <p:cNvPr id="7" name="Rectangle 7"/>
            <p:cNvSpPr/>
            <p:nvPr/>
          </p:nvSpPr>
          <p:spPr>
            <a:xfrm>
              <a:off x="381000" y="1095375"/>
              <a:ext cx="5619750" cy="4953000"/>
            </a:xfrm>
            <a:prstGeom prst="roundRect">
              <a:avLst>
                <a:gd name="adj" fmla="val 2308"/>
              </a:avLst>
            </a:prstGeom>
            <a:solidFill>
              <a:srgbClr val="F8FAFC"/>
            </a:solidFill>
            <a:ln w="14288">
              <a:solidFill>
                <a:srgbClr val="1A56DB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095375"/>
              <a:ext cx="5619750" cy="495300"/>
            </a:xfrm>
            <a:prstGeom prst="roundRect">
              <a:avLst>
                <a:gd name="adj" fmla="val 23077"/>
              </a:avLst>
            </a:prstGeom>
            <a:solidFill>
              <a:srgbClr val="1A56D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81000" y="1476375"/>
              <a:ext cx="5619750" cy="114300"/>
            </a:xfrm>
            <a:prstGeom prst="rect">
              <a:avLst/>
            </a:prstGeom>
            <a:solidFill>
              <a:srgbClr val="1A56DB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590550" y="1247775"/>
              <a:ext cx="304800" cy="247650"/>
              <a:chOff x="590550" y="1247775"/>
              <a:chExt cx="304800" cy="2476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590550" y="1247775"/>
                <a:ext cx="3048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57150">
                    <a:moveTo>
                      <a:pt x="3048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304800" y="57150"/>
                    </a:lnTo>
                    <a:lnTo>
                      <a:pt x="3048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09600" y="1343025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38100"/>
                    </a:lnTo>
                    <a:lnTo>
                      <a:pt x="190500" y="38100"/>
                    </a:lnTo>
                    <a:lnTo>
                      <a:pt x="190500" y="0"/>
                    </a:lnTo>
                    <a:lnTo>
                      <a:pt x="266700" y="0"/>
                    </a:lnTo>
                    <a:lnTo>
                      <a:pt x="266700" y="152400"/>
                    </a:lnTo>
                    <a:lnTo>
                      <a:pt x="0" y="152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10602" y="1274921"/>
              <a:ext cx="145282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📦 Diff 智能压缩</a:t>
              </a:r>
              <a:endParaRPr lang="zh-CN" sz="142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1762125"/>
              <a:ext cx="5162550" cy="8382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" y="1762125"/>
              <a:ext cx="762000" cy="838200"/>
            </a:xfrm>
            <a:prstGeom prst="roundRect">
              <a:avLst>
                <a:gd name="adj" fmla="val 10000"/>
              </a:avLst>
            </a:prstGeom>
            <a:solidFill>
              <a:srgbClr val="1A56D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295400" y="1762125"/>
              <a:ext cx="76200" cy="838200"/>
            </a:xfrm>
            <a:prstGeom prst="rect">
              <a:avLst/>
            </a:prstGeom>
            <a:solidFill>
              <a:srgbClr val="1A56D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89677" y="21169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L0</a:t>
              </a:r>
              <a:endParaRPr lang="zh-CN" sz="112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10665" y="1934528"/>
              <a:ext cx="57848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全量 Diff </a:t>
              </a:r>
              <a:endParaRPr lang="zh-CN" sz="10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12570" y="2188845"/>
              <a:ext cx="85598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保留完整的</a:t>
              </a:r>
              <a:r>
                <a: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更改 ·</a:t>
              </a:r>
              <a:endParaRPr 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09882" y="2133124"/>
              <a:ext cx="12700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endParaRPr lang="zh-CN" sz="975" b="1" dirty="0">
                <a:solidFill>
                  <a:srgbClr val="1A56D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" y="2714625"/>
              <a:ext cx="5162550" cy="8382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" y="2714625"/>
              <a:ext cx="762000" cy="838200"/>
            </a:xfrm>
            <a:prstGeom prst="roundRect">
              <a:avLst>
                <a:gd name="adj" fmla="val 1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295400" y="2714625"/>
              <a:ext cx="76200" cy="838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9367" y="3069431"/>
              <a:ext cx="1624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L1</a:t>
              </a:r>
              <a:endParaRPr lang="zh-CN" sz="112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0665" y="285845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缩减上下文窗口</a:t>
              </a:r>
              <a:endParaRPr lang="zh-CN" sz="10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12570" y="3112770"/>
              <a:ext cx="104457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剥离纯删除型 hunk</a:t>
              </a:r>
              <a:r>
                <a: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</a:t>
              </a:r>
              <a:endParaRPr 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3667125"/>
              <a:ext cx="5162550" cy="8382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9600" y="3667125"/>
              <a:ext cx="762000" cy="838200"/>
            </a:xfrm>
            <a:prstGeom prst="roundRect">
              <a:avLst>
                <a:gd name="adj" fmla="val 1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295400" y="3667125"/>
              <a:ext cx="76200" cy="8382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9677" y="40219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L2</a:t>
              </a:r>
              <a:endParaRPr lang="zh-CN" sz="112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10665" y="3810952"/>
              <a:ext cx="1790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贪心打包：主语言文件优先</a:t>
              </a:r>
              <a:endParaRPr lang="zh-CN" sz="10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12570" y="4065270"/>
              <a:ext cx="145415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主语言</a:t>
              </a:r>
              <a:r>
                <a: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优先填充 Token 预算 ·</a:t>
              </a:r>
              <a:endParaRPr 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09882" y="4038124"/>
              <a:ext cx="12700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endParaRPr lang="zh-CN" sz="975" b="1" dirty="0">
                <a:solidFill>
                  <a:srgbClr val="F59E0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9600" y="4619625"/>
              <a:ext cx="5162550" cy="8382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9600" y="4619625"/>
              <a:ext cx="762000" cy="838200"/>
            </a:xfrm>
            <a:prstGeom prst="roundRect">
              <a:avLst>
                <a:gd name="adj" fmla="val 10000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295400" y="4619625"/>
              <a:ext cx="76200" cy="838200"/>
            </a:xfrm>
            <a:prstGeom prst="rect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9677" y="49744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L3</a:t>
              </a:r>
              <a:endParaRPr lang="zh-CN" sz="112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10665" y="4763452"/>
              <a:ext cx="18864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激进裁剪：每 hunk 仅前10行</a:t>
              </a:r>
              <a:endParaRPr lang="zh-CN" sz="10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12570" y="5017770"/>
              <a:ext cx="244157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每个</a:t>
              </a:r>
              <a:r>
                <a:rPr lang="en-US" alt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hunk </a:t>
              </a:r>
              <a:r>
                <a:rPr lang="zh-CN" altLang="en-US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只保留前</a:t>
              </a:r>
              <a:r>
                <a:rPr lang="en-US" alt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10 </a:t>
              </a:r>
              <a:r>
                <a:rPr lang="zh-CN" altLang="en-US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行变更，减少处理</a:t>
              </a:r>
              <a:r>
                <a:rPr lang="zh-CN" altLang="en-US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内容。</a:t>
              </a:r>
              <a:endPara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09882" y="4990624"/>
              <a:ext cx="12700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endParaRPr lang="zh-CN" sz="975" b="1" dirty="0">
                <a:solidFill>
                  <a:srgbClr val="EF44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75747" y="581644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设计参考：PR-Agent 压缩策略 + Token 预算管理</a:t>
              </a:r>
              <a:endParaRPr lang="zh-CN" sz="825" dirty="0">
                <a:solidFill>
                  <a:srgbClr val="94A3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191250" y="1095375"/>
            <a:ext cx="5619750" cy="4953000"/>
            <a:chOff x="6191250" y="1095375"/>
            <a:chExt cx="5619750" cy="4953000"/>
          </a:xfrm>
        </p:grpSpPr>
        <p:sp>
          <p:nvSpPr>
            <p:cNvPr id="44" name="Rectangle 44"/>
            <p:cNvSpPr/>
            <p:nvPr/>
          </p:nvSpPr>
          <p:spPr>
            <a:xfrm>
              <a:off x="6191250" y="1095375"/>
              <a:ext cx="5619750" cy="4953000"/>
            </a:xfrm>
            <a:prstGeom prst="roundRect">
              <a:avLst>
                <a:gd name="adj" fmla="val 2308"/>
              </a:avLst>
            </a:prstGeom>
            <a:solidFill>
              <a:srgbClr val="F8FAFC"/>
            </a:solidFill>
            <a:ln w="14288">
              <a:solidFill>
                <a:srgbClr val="10B981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191250" y="1095375"/>
              <a:ext cx="5619750" cy="495300"/>
            </a:xfrm>
            <a:prstGeom prst="roundRect">
              <a:avLst>
                <a:gd name="adj" fmla="val 23077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191250" y="1476375"/>
              <a:ext cx="5619750" cy="1143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438900" y="1209675"/>
              <a:ext cx="228600" cy="304800"/>
              <a:chOff x="6438900" y="1209675"/>
              <a:chExt cx="228600" cy="304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438900" y="1331595"/>
                <a:ext cx="22860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7630">
                    <a:moveTo>
                      <a:pt x="212162" y="9719"/>
                    </a:moveTo>
                    <a:cubicBezTo>
                      <a:pt x="217521" y="7039"/>
                      <a:pt x="223119" y="3806"/>
                      <a:pt x="228600" y="0"/>
                    </a:cubicBezTo>
                    <a:lnTo>
                      <a:pt x="228600" y="30480"/>
                    </a:lnTo>
                    <a:cubicBezTo>
                      <a:pt x="228600" y="62043"/>
                      <a:pt x="177426" y="87630"/>
                      <a:pt x="114300" y="87630"/>
                    </a:cubicBezTo>
                    <a:cubicBezTo>
                      <a:pt x="51174" y="87630"/>
                      <a:pt x="0" y="62043"/>
                      <a:pt x="0" y="30480"/>
                    </a:cubicBezTo>
                    <a:lnTo>
                      <a:pt x="0" y="0"/>
                    </a:lnTo>
                    <a:cubicBezTo>
                      <a:pt x="5481" y="3806"/>
                      <a:pt x="11079" y="7039"/>
                      <a:pt x="16439" y="9719"/>
                    </a:cubicBezTo>
                    <a:cubicBezTo>
                      <a:pt x="43452" y="23225"/>
                      <a:pt x="78105" y="30480"/>
                      <a:pt x="114300" y="30480"/>
                    </a:cubicBezTo>
                    <a:cubicBezTo>
                      <a:pt x="150495" y="30480"/>
                      <a:pt x="185147" y="23225"/>
                      <a:pt x="212162" y="97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438900" y="1426845"/>
                <a:ext cx="22860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7630">
                    <a:moveTo>
                      <a:pt x="0" y="0"/>
                    </a:moveTo>
                    <a:lnTo>
                      <a:pt x="0" y="30480"/>
                    </a:lnTo>
                    <a:cubicBezTo>
                      <a:pt x="0" y="62044"/>
                      <a:pt x="51174" y="87630"/>
                      <a:pt x="114300" y="87630"/>
                    </a:cubicBezTo>
                    <a:cubicBezTo>
                      <a:pt x="177426" y="87630"/>
                      <a:pt x="228600" y="62044"/>
                      <a:pt x="228600" y="30480"/>
                    </a:cubicBezTo>
                    <a:lnTo>
                      <a:pt x="228600" y="0"/>
                    </a:lnTo>
                    <a:cubicBezTo>
                      <a:pt x="223119" y="3806"/>
                      <a:pt x="217521" y="7039"/>
                      <a:pt x="212162" y="9719"/>
                    </a:cubicBezTo>
                    <a:cubicBezTo>
                      <a:pt x="185147" y="23226"/>
                      <a:pt x="150495" y="30480"/>
                      <a:pt x="114300" y="30480"/>
                    </a:cubicBezTo>
                    <a:cubicBezTo>
                      <a:pt x="78105" y="30480"/>
                      <a:pt x="43452" y="23226"/>
                      <a:pt x="16439" y="9719"/>
                    </a:cubicBezTo>
                    <a:cubicBezTo>
                      <a:pt x="11079" y="7039"/>
                      <a:pt x="5481" y="380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438900" y="120967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114300" y="0"/>
                    </a:moveTo>
                    <a:cubicBezTo>
                      <a:pt x="177426" y="0"/>
                      <a:pt x="228600" y="25587"/>
                      <a:pt x="228600" y="57150"/>
                    </a:cubicBezTo>
                    <a:cubicBezTo>
                      <a:pt x="228600" y="88713"/>
                      <a:pt x="177426" y="114300"/>
                      <a:pt x="114300" y="114300"/>
                    </a:cubicBezTo>
                    <a:cubicBezTo>
                      <a:pt x="51174" y="114300"/>
                      <a:pt x="0" y="88713"/>
                      <a:pt x="0" y="57150"/>
                    </a:cubicBezTo>
                    <a:cubicBezTo>
                      <a:pt x="0" y="25587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820852" y="1274921"/>
              <a:ext cx="195163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💾 Commit 级智能缓存</a:t>
              </a:r>
              <a:endParaRPr lang="zh-CN" sz="142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2" name="Ellipse 52"/>
            <p:cNvSpPr/>
            <p:nvPr/>
          </p:nvSpPr>
          <p:spPr>
            <a:xfrm>
              <a:off x="6515100" y="1790700"/>
              <a:ext cx="419100" cy="419100"/>
            </a:xfrm>
            <a:prstGeom prst="ellipse">
              <a:avLst/>
            </a:prstGeom>
            <a:solidFill>
              <a:srgbClr val="1A56D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70885" y="19631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①</a:t>
              </a:r>
              <a:endParaRPr lang="zh-CN" sz="10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4" name="Line 54"/>
            <p:cNvSpPr/>
            <p:nvPr/>
          </p:nvSpPr>
          <p:spPr>
            <a:xfrm>
              <a:off x="6934200" y="2000250"/>
              <a:ext cx="400050" cy="1"/>
            </a:xfrm>
            <a:prstGeom prst="line">
              <a:avLst/>
            </a:prstGeom>
            <a:noFill/>
            <a:ln w="19050">
              <a:solidFill>
                <a:srgbClr val="1A56DB"/>
              </a:solidFill>
              <a:tailEnd type="triangle" w="lg" len="lg"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14260" y="1832610"/>
              <a:ext cx="9882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输入 PR 链接</a:t>
              </a:r>
              <a:endParaRPr lang="zh-CN" sz="120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18070" y="2055495"/>
              <a:ext cx="14270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自动获取最新 commit SHA</a:t>
              </a:r>
              <a:endParaRPr 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7" name="Ellipse 57"/>
            <p:cNvSpPr/>
            <p:nvPr/>
          </p:nvSpPr>
          <p:spPr>
            <a:xfrm>
              <a:off x="6515100" y="2552700"/>
              <a:ext cx="419100" cy="4191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70885" y="27251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②</a:t>
              </a:r>
              <a:endParaRPr lang="zh-CN" sz="10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9" name="Line 59"/>
            <p:cNvSpPr/>
            <p:nvPr/>
          </p:nvSpPr>
          <p:spPr>
            <a:xfrm>
              <a:off x="6934200" y="2762250"/>
              <a:ext cx="400050" cy="1"/>
            </a:xfrm>
            <a:prstGeom prst="line">
              <a:avLst/>
            </a:prstGeom>
            <a:noFill/>
            <a:ln w="19050">
              <a:solidFill>
                <a:srgbClr val="10B981"/>
              </a:solidFill>
              <a:tailEnd type="triangle" w="lg" len="lg"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14260" y="25946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查询缓存</a:t>
              </a:r>
              <a:endParaRPr lang="zh-CN" sz="120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19022" y="2825591"/>
              <a:ext cx="23477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.insightor/cache/{owner}/{repo}/pr-{n}/</a:t>
              </a:r>
              <a:endParaRPr lang="zh-CN" sz="825" dirty="0">
                <a:solidFill>
                  <a:srgbClr val="6B728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2" name="Ellipse 62"/>
            <p:cNvSpPr/>
            <p:nvPr/>
          </p:nvSpPr>
          <p:spPr>
            <a:xfrm>
              <a:off x="6515100" y="3314700"/>
              <a:ext cx="419100" cy="4191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70885" y="34871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③</a:t>
              </a:r>
              <a:endParaRPr lang="zh-CN" sz="10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4" name="Line 64"/>
            <p:cNvSpPr/>
            <p:nvPr/>
          </p:nvSpPr>
          <p:spPr>
            <a:xfrm>
              <a:off x="6934200" y="3524250"/>
              <a:ext cx="400050" cy="1"/>
            </a:xfrm>
            <a:prstGeom prst="line">
              <a:avLst/>
            </a:prstGeom>
            <a:noFill/>
            <a:ln w="19050">
              <a:solidFill>
                <a:srgbClr val="F59E0B"/>
              </a:solidFill>
              <a:tailEnd type="triangle" w="lg" len="lg"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14260" y="3356610"/>
              <a:ext cx="12318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命中 → 直接返回</a:t>
              </a:r>
              <a:endParaRPr lang="zh-CN" sz="120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18070" y="3579495"/>
              <a:ext cx="1277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免 AI 调用，零延迟响应</a:t>
              </a:r>
              <a:endParaRPr 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7" name="Ellipse 67"/>
            <p:cNvSpPr/>
            <p:nvPr/>
          </p:nvSpPr>
          <p:spPr>
            <a:xfrm>
              <a:off x="6515100" y="4076700"/>
              <a:ext cx="419100" cy="4191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70885" y="42491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④</a:t>
              </a:r>
              <a:endParaRPr lang="zh-CN" sz="10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9" name="Line 69"/>
            <p:cNvSpPr/>
            <p:nvPr/>
          </p:nvSpPr>
          <p:spPr>
            <a:xfrm>
              <a:off x="6934200" y="4286250"/>
              <a:ext cx="400050" cy="1"/>
            </a:xfrm>
            <a:prstGeom prst="line">
              <a:avLst/>
            </a:prstGeom>
            <a:noFill/>
            <a:ln w="19050">
              <a:solidFill>
                <a:srgbClr val="EF4444"/>
              </a:solidFill>
              <a:tailEnd type="triangle" w="lg" len="lg"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14260" y="4118610"/>
              <a:ext cx="12570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未命中 → AI 分析</a:t>
              </a:r>
              <a:endParaRPr lang="zh-CN" sz="120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18070" y="4341495"/>
              <a:ext cx="211074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分析完成后写入缓存（SHA前</a:t>
              </a:r>
              <a:r>
                <a:rPr lang="en-US" alt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12</a:t>
              </a:r>
              <a:r>
                <a:rPr lang="zh-CN" altLang="en-US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位</a:t>
              </a:r>
              <a:r>
                <a: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为key）</a:t>
              </a:r>
              <a:endParaRPr 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419850" y="4857750"/>
              <a:ext cx="5162550" cy="857250"/>
            </a:xfrm>
            <a:prstGeom prst="roundRect">
              <a:avLst>
                <a:gd name="adj" fmla="val 11111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631270" y="5030152"/>
              <a:ext cx="739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65F46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✨ 核心价值</a:t>
              </a:r>
              <a:endParaRPr lang="zh-CN" sz="1050" b="1" dirty="0">
                <a:solidFill>
                  <a:srgbClr val="065F4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071003" y="5276374"/>
              <a:ext cx="38602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4785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缓存命中时完全跳过 AI 调用，同一 commit 始终得到相同审查反馈</a:t>
              </a:r>
              <a:endParaRPr lang="zh-CN" sz="975" dirty="0">
                <a:solidFill>
                  <a:srgbClr val="04785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76556" y="5474970"/>
              <a:ext cx="22491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支持增量审查：基于上次缓存做 diff 基线</a:t>
              </a:r>
              <a:endParaRPr 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7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457200"/>
            <a:ext cx="5436934" cy="678656"/>
            <a:chOff x="762000" y="457200"/>
            <a:chExt cx="5436934" cy="678656"/>
          </a:xfrm>
        </p:grpSpPr>
        <p:sp>
          <p:nvSpPr>
            <p:cNvPr id="3" name="Rectangle 3"/>
            <p:cNvSpPr/>
            <p:nvPr/>
          </p:nvSpPr>
          <p:spPr>
            <a:xfrm>
              <a:off x="762000" y="457200"/>
              <a:ext cx="47625" cy="53340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9165" y="467678"/>
              <a:ext cx="525976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核心创新③：人机协同审查工作流</a:t>
              </a:r>
              <a:endParaRPr lang="zh-CN" sz="25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57262" y="907256"/>
              <a:ext cx="3876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AI 生成草稿 → 人类确认 → 一键发布 · finding-id 精确追踪</a:t>
              </a:r>
              <a:endParaRPr lang="zh-CN" sz="1125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77922" y="1466850"/>
            <a:ext cx="8341375" cy="1247775"/>
            <a:chOff x="1277922" y="1466850"/>
            <a:chExt cx="8341375" cy="1247775"/>
          </a:xfrm>
        </p:grpSpPr>
        <p:sp>
          <p:nvSpPr>
            <p:cNvPr id="7" name="Ellipse 7"/>
            <p:cNvSpPr/>
            <p:nvPr/>
          </p:nvSpPr>
          <p:spPr>
            <a:xfrm>
              <a:off x="1333500" y="1466850"/>
              <a:ext cx="685800" cy="685800"/>
            </a:xfrm>
            <a:prstGeom prst="ellipse">
              <a:avLst/>
            </a:prstGeom>
            <a:solidFill>
              <a:srgbClr val="1A56D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20791" y="1726882"/>
              <a:ext cx="1112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1</a:t>
              </a:r>
              <a:endParaRPr lang="zh-CN" sz="16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37915" y="2254568"/>
              <a:ext cx="676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输入 PR</a:t>
              </a:r>
              <a:endParaRPr lang="zh-CN" sz="13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7922" y="2531745"/>
              <a:ext cx="7969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insightor full</a:t>
              </a:r>
              <a:endParaRPr lang="zh-CN" sz="900" dirty="0">
                <a:solidFill>
                  <a:srgbClr val="6B728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2095500" y="1809750"/>
              <a:ext cx="476250" cy="1"/>
            </a:xfrm>
            <a:prstGeom prst="line">
              <a:avLst/>
            </a:prstGeom>
            <a:noFill/>
            <a:ln w="19050">
              <a:solidFill>
                <a:srgbClr val="6B7280"/>
              </a:solidFill>
              <a:tailEnd type="triangle" w="lg" len="lg"/>
            </a:ln>
          </p:spPr>
        </p:sp>
        <p:sp>
          <p:nvSpPr>
            <p:cNvPr id="12" name="Ellipse 12"/>
            <p:cNvSpPr/>
            <p:nvPr/>
          </p:nvSpPr>
          <p:spPr>
            <a:xfrm>
              <a:off x="3181350" y="1466850"/>
              <a:ext cx="685800" cy="6858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439762" y="1726882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2</a:t>
              </a:r>
              <a:endParaRPr lang="zh-CN" sz="16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09393" y="2254568"/>
              <a:ext cx="6297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AI 分析</a:t>
              </a:r>
              <a:endParaRPr lang="zh-CN" sz="13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80729" y="2531745"/>
              <a:ext cx="14870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describe + risks + review</a:t>
              </a:r>
              <a:endParaRPr 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3943350" y="1809750"/>
              <a:ext cx="476250" cy="1"/>
            </a:xfrm>
            <a:prstGeom prst="line">
              <a:avLst/>
            </a:prstGeom>
            <a:noFill/>
            <a:ln w="19050">
              <a:solidFill>
                <a:srgbClr val="6B7280"/>
              </a:solidFill>
              <a:tailEnd type="triangle" w="lg" len="lg"/>
            </a:ln>
          </p:spPr>
        </p:sp>
        <p:sp>
          <p:nvSpPr>
            <p:cNvPr id="17" name="Ellipse 17"/>
            <p:cNvSpPr/>
            <p:nvPr/>
          </p:nvSpPr>
          <p:spPr>
            <a:xfrm>
              <a:off x="5029200" y="1466850"/>
              <a:ext cx="685800" cy="6858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87612" y="1726882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3</a:t>
              </a:r>
              <a:endParaRPr lang="zh-CN" sz="16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76908" y="22545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生成草稿</a:t>
              </a:r>
              <a:endParaRPr lang="zh-CN" sz="13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41568" y="2531745"/>
              <a:ext cx="16610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三段式 Markdown + checkbox</a:t>
              </a:r>
              <a:endParaRPr 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5791200" y="1809750"/>
              <a:ext cx="476250" cy="1"/>
            </a:xfrm>
            <a:prstGeom prst="line">
              <a:avLst/>
            </a:prstGeom>
            <a:noFill/>
            <a:ln w="19050">
              <a:solidFill>
                <a:srgbClr val="6B7280"/>
              </a:solidFill>
              <a:tailEnd type="triangle" w="lg" len="lg"/>
            </a:ln>
          </p:spPr>
        </p:sp>
        <p:sp>
          <p:nvSpPr>
            <p:cNvPr id="22" name="Ellipse 22"/>
            <p:cNvSpPr/>
            <p:nvPr/>
          </p:nvSpPr>
          <p:spPr>
            <a:xfrm>
              <a:off x="6877050" y="1466850"/>
              <a:ext cx="685800" cy="6858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35462" y="1726882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4</a:t>
              </a:r>
              <a:endParaRPr lang="zh-CN" sz="16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24758" y="22545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人工确认</a:t>
              </a:r>
              <a:endParaRPr lang="zh-CN" sz="13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48475" y="25317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勾选反馈状态</a:t>
              </a:r>
              <a:endParaRPr 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7639050" y="1809750"/>
              <a:ext cx="476250" cy="1"/>
            </a:xfrm>
            <a:prstGeom prst="line">
              <a:avLst/>
            </a:prstGeom>
            <a:noFill/>
            <a:ln w="19050">
              <a:solidFill>
                <a:srgbClr val="6B7280"/>
              </a:solidFill>
              <a:tailEnd type="triangle" w="lg" len="lg"/>
            </a:ln>
          </p:spPr>
        </p:sp>
        <p:sp>
          <p:nvSpPr>
            <p:cNvPr id="27" name="Ellipse 27"/>
            <p:cNvSpPr/>
            <p:nvPr/>
          </p:nvSpPr>
          <p:spPr>
            <a:xfrm>
              <a:off x="8724900" y="1466850"/>
              <a:ext cx="685800" cy="6858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983312" y="1726882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5</a:t>
              </a:r>
              <a:endParaRPr lang="zh-CN" sz="16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72608" y="22545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一键发布</a:t>
              </a:r>
              <a:endParaRPr lang="zh-CN" sz="13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16302" y="253174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GitHub PR Comment</a:t>
              </a:r>
              <a:endParaRPr 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32" name="Line 32"/>
          <p:cNvSpPr/>
          <p:nvPr/>
        </p:nvSpPr>
        <p:spPr>
          <a:xfrm>
            <a:off x="762000" y="3048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grpSp>
        <p:nvGrpSpPr>
          <p:cNvPr id="37" name="Group 37"/>
          <p:cNvGrpSpPr/>
          <p:nvPr/>
        </p:nvGrpSpPr>
        <p:grpSpPr>
          <a:xfrm>
            <a:off x="933450" y="3314700"/>
            <a:ext cx="6067147" cy="862171"/>
            <a:chOff x="933450" y="3314700"/>
            <a:chExt cx="6067147" cy="862171"/>
          </a:xfrm>
        </p:grpSpPr>
        <p:sp>
          <p:nvSpPr>
            <p:cNvPr id="33" name="TextBox 33"/>
            <p:cNvSpPr txBox="1"/>
            <p:nvPr/>
          </p:nvSpPr>
          <p:spPr>
            <a:xfrm>
              <a:off x="933450" y="331470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56D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🤖 AI 生成阶段</a:t>
              </a:r>
              <a:endParaRPr lang="zh-CN" sz="1500" b="1" dirty="0">
                <a:solidFill>
                  <a:srgbClr val="1A56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8212" y="3669506"/>
              <a:ext cx="44466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· 自动生成三段式 Markdown 草稿（describe + risks + review）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8212" y="3917156"/>
              <a:ext cx="12700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3767" y="3948271"/>
              <a:ext cx="60668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· review 段包含 checkbox 反馈区：confirmed / false_positive / addressed / ignored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33450" y="4695825"/>
            <a:ext cx="3671292" cy="831056"/>
            <a:chOff x="933450" y="4695825"/>
            <a:chExt cx="3671292" cy="831056"/>
          </a:xfrm>
        </p:grpSpPr>
        <p:sp>
          <p:nvSpPr>
            <p:cNvPr id="38" name="TextBox 38"/>
            <p:cNvSpPr txBox="1"/>
            <p:nvPr/>
          </p:nvSpPr>
          <p:spPr>
            <a:xfrm>
              <a:off x="933450" y="4695825"/>
              <a:ext cx="14767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B98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👤 人工确认阶段</a:t>
              </a:r>
              <a:endParaRPr lang="zh-CN" sz="1500" b="1" dirty="0">
                <a:solidFill>
                  <a:srgbClr val="10B98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8212" y="5050631"/>
              <a:ext cx="36665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· 开发者打开 .md 文件，勾选每个 finding 的反馈状态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8212" y="5298281"/>
              <a:ext cx="22563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· 可选填写审查者名称和备注说明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33450" y="6076950"/>
            <a:ext cx="8030527" cy="528161"/>
            <a:chOff x="933450" y="6076950"/>
            <a:chExt cx="8030527" cy="528161"/>
          </a:xfrm>
        </p:grpSpPr>
        <p:sp>
          <p:nvSpPr>
            <p:cNvPr id="43" name="TextBox 43"/>
            <p:cNvSpPr txBox="1"/>
            <p:nvPr/>
          </p:nvSpPr>
          <p:spPr>
            <a:xfrm>
              <a:off x="933450" y="6076950"/>
              <a:ext cx="105672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5CF6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🚀 发布阶段</a:t>
              </a:r>
              <a:endParaRPr lang="zh-CN" sz="1500" b="1" dirty="0">
                <a:solidFill>
                  <a:srgbClr val="8B5C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8212" y="6431756"/>
              <a:ext cx="8025765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· 一键发布到 GitHub PR 评论（含完整发现详情 + 代码建议） · 发布有 feedback 的 finding · QualityTracker 自动更新历史准确率</a:t>
              </a:r>
              <a:endParaRPr lang="zh-CN" sz="1125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7" grpId="0"/>
      <p:bldP spid="42" grpId="0"/>
      <p:bldP spid="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62000" y="342900"/>
            <a:ext cx="3121295" cy="569119"/>
            <a:chOff x="762000" y="342900"/>
            <a:chExt cx="3121295" cy="569119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47625" cy="45720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42975" y="347662"/>
              <a:ext cx="2857500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核心创新④：质量追踪</a:t>
              </a:r>
              <a:endParaRPr lang="zh-CN" sz="2250" b="1" dirty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59168" y="713899"/>
              <a:ext cx="29241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从主观感觉 → 数据驱动决策 · 持续优化的反馈闭环</a:t>
              </a:r>
              <a:endParaRPr lang="zh-CN" sz="975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52" name="Group 52"/>
          <p:cNvGrpSpPr/>
          <p:nvPr>
            <p:custDataLst>
              <p:tags r:id="rId1"/>
            </p:custDataLst>
          </p:nvPr>
        </p:nvGrpSpPr>
        <p:grpSpPr>
          <a:xfrm>
            <a:off x="2659380" y="1174750"/>
            <a:ext cx="7246620" cy="5396230"/>
            <a:chOff x="6191250" y="1095375"/>
            <a:chExt cx="5619750" cy="5048250"/>
          </a:xfrm>
        </p:grpSpPr>
        <p:sp>
          <p:nvSpPr>
            <p:cNvPr id="31" name="Rectangle 31"/>
            <p:cNvSpPr/>
            <p:nvPr/>
          </p:nvSpPr>
          <p:spPr>
            <a:xfrm>
              <a:off x="6191250" y="1095375"/>
              <a:ext cx="5619750" cy="5048250"/>
            </a:xfrm>
            <a:prstGeom prst="roundRect">
              <a:avLst>
                <a:gd name="adj" fmla="val 2264"/>
              </a:avLst>
            </a:prstGeom>
            <a:solidFill>
              <a:srgbClr val="F8FAFC"/>
            </a:solidFill>
            <a:ln w="14288">
              <a:solidFill>
                <a:srgbClr val="10B981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191250" y="1095375"/>
              <a:ext cx="5619750" cy="476250"/>
            </a:xfrm>
            <a:prstGeom prst="roundRect">
              <a:avLst>
                <a:gd name="adj" fmla="val 24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191250" y="1476375"/>
              <a:ext cx="5619750" cy="9525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93894" y="1263968"/>
              <a:ext cx="2614462" cy="2590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📊 质量追踪 (QualityTracker)</a:t>
              </a:r>
              <a:endParaRPr lang="zh-CN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5" name="Rectangle 35"/>
            <p:cNvSpPr/>
            <p:nvPr>
              <p:custDataLst>
                <p:tags r:id="rId2"/>
              </p:custDataLst>
            </p:nvPr>
          </p:nvSpPr>
          <p:spPr>
            <a:xfrm>
              <a:off x="6419850" y="1762125"/>
              <a:ext cx="5162550" cy="59055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>
              <p:custDataLst>
                <p:tags r:id="rId3"/>
              </p:custDataLst>
            </p:nvPr>
          </p:nvSpPr>
          <p:spPr>
            <a:xfrm>
              <a:off x="6599938" y="1780901"/>
              <a:ext cx="570833" cy="2013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0B98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反馈收集</a:t>
              </a:r>
              <a:endParaRPr lang="zh-CN" sz="1400" b="1" dirty="0">
                <a:solidFill>
                  <a:srgbClr val="10B98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7" name="TextBox 37"/>
            <p:cNvSpPr txBox="1"/>
            <p:nvPr>
              <p:custDataLst>
                <p:tags r:id="rId4"/>
              </p:custDataLst>
            </p:nvPr>
          </p:nvSpPr>
          <p:spPr>
            <a:xfrm>
              <a:off x="6599977" y="1995363"/>
              <a:ext cx="4467435" cy="2013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每次发布→自动收集：confirmed / false_positive / addressed / ignored</a:t>
              </a:r>
              <a:endParaRPr lang="zh-CN" sz="1400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8" name="Rectangle 38"/>
            <p:cNvSpPr/>
            <p:nvPr>
              <p:custDataLst>
                <p:tags r:id="rId5"/>
              </p:custDataLst>
            </p:nvPr>
          </p:nvSpPr>
          <p:spPr>
            <a:xfrm>
              <a:off x="6469380" y="2466340"/>
              <a:ext cx="5162550" cy="49530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9" name="TextBox 39"/>
            <p:cNvSpPr txBox="1"/>
            <p:nvPr>
              <p:custDataLst>
                <p:tags r:id="rId6"/>
              </p:custDataLst>
            </p:nvPr>
          </p:nvSpPr>
          <p:spPr>
            <a:xfrm>
              <a:off x="6597968" y="2466499"/>
              <a:ext cx="570833" cy="2013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0B98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历史统计</a:t>
              </a:r>
              <a:endParaRPr lang="zh-CN" sz="1400" b="1" dirty="0">
                <a:solidFill>
                  <a:srgbClr val="10B98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0" name="TextBox 40"/>
            <p:cNvSpPr txBox="1"/>
            <p:nvPr>
              <p:custDataLst>
                <p:tags r:id="rId7"/>
              </p:custDataLst>
            </p:nvPr>
          </p:nvSpPr>
          <p:spPr>
            <a:xfrm>
              <a:off x="6598992" y="2664859"/>
              <a:ext cx="3781463" cy="2013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security</a:t>
              </a:r>
              <a:r>
                <a:rPr lang="zh-CN" sz="1400" b="1" dirty="0">
                  <a:solidFill>
                    <a:srgbClr val="10B98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88%</a:t>
              </a:r>
              <a:r>
                <a:rPr lang="zh-CN" sz="1400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performance</a:t>
              </a:r>
              <a:r>
                <a:rPr lang="zh-CN" sz="1400" b="1" dirty="0">
                  <a:solidFill>
                    <a:srgbClr val="F59E0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75%</a:t>
              </a:r>
              <a:r>
                <a:rPr lang="zh-CN" sz="1400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logic</a:t>
              </a:r>
              <a:r>
                <a:rPr lang="zh-CN" sz="1400" b="1" dirty="0">
                  <a:solidFill>
                    <a:srgbClr val="EF4444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62%</a:t>
              </a:r>
              <a:endParaRPr lang="zh-CN" sz="1400" b="1" dirty="0">
                <a:solidFill>
                  <a:srgbClr val="EF444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1" name="Rectangle 41"/>
            <p:cNvSpPr/>
            <p:nvPr>
              <p:custDataLst>
                <p:tags r:id="rId8"/>
              </p:custDataLst>
            </p:nvPr>
          </p:nvSpPr>
          <p:spPr>
            <a:xfrm>
              <a:off x="6419850" y="3056890"/>
              <a:ext cx="5162550" cy="52197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2" name="TextBox 42"/>
            <p:cNvSpPr txBox="1"/>
            <p:nvPr>
              <p:custDataLst>
                <p:tags r:id="rId9"/>
              </p:custDataLst>
            </p:nvPr>
          </p:nvSpPr>
          <p:spPr>
            <a:xfrm>
              <a:off x="6597968" y="3057049"/>
              <a:ext cx="707350" cy="2013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0B98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置信度校准</a:t>
              </a:r>
              <a:endParaRPr lang="zh-CN" sz="1400" b="1" dirty="0">
                <a:solidFill>
                  <a:srgbClr val="10B98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3" name="TextBox 43"/>
            <p:cNvSpPr txBox="1"/>
            <p:nvPr>
              <p:custDataLst>
                <p:tags r:id="rId10"/>
              </p:custDataLst>
            </p:nvPr>
          </p:nvSpPr>
          <p:spPr>
            <a:xfrm>
              <a:off x="6598992" y="3255940"/>
              <a:ext cx="4412774" cy="2013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基于历史准确率人工优化</a:t>
              </a:r>
              <a:r>
                <a:rPr lang="en-US" altLang="zh-CN" sz="1400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Prompt</a:t>
              </a:r>
              <a:r>
                <a:rPr lang="zh-CN" sz="1400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动态调整 ，重点关注误报率高的类别</a:t>
              </a:r>
              <a:endParaRPr lang="zh-CN" sz="1400" dirty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4" name="Rectangle 44"/>
            <p:cNvSpPr/>
            <p:nvPr>
              <p:custDataLst>
                <p:tags r:id="rId11"/>
              </p:custDataLst>
            </p:nvPr>
          </p:nvSpPr>
          <p:spPr>
            <a:xfrm>
              <a:off x="6419850" y="3647440"/>
              <a:ext cx="5162550" cy="49530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5" name="TextBox 45"/>
            <p:cNvSpPr txBox="1"/>
            <p:nvPr>
              <p:custDataLst>
                <p:tags r:id="rId12"/>
              </p:custDataLst>
            </p:nvPr>
          </p:nvSpPr>
          <p:spPr>
            <a:xfrm>
              <a:off x="6597968" y="3647599"/>
              <a:ext cx="434316" cy="2013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0B98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持久化</a:t>
              </a:r>
              <a:endParaRPr lang="zh-CN" sz="1400" b="1" dirty="0">
                <a:solidFill>
                  <a:srgbClr val="10B98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6" name="TextBox 46"/>
            <p:cNvSpPr txBox="1"/>
            <p:nvPr>
              <p:custDataLst>
                <p:tags r:id="rId13"/>
              </p:custDataLst>
            </p:nvPr>
          </p:nvSpPr>
          <p:spPr>
            <a:xfrm>
              <a:off x="6599977" y="3854150"/>
              <a:ext cx="4309361" cy="1722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.insightor/quality/ → history.json（累计）+ metrics.json（预计算）</a:t>
              </a:r>
              <a:endParaRPr lang="zh-CN" sz="1200" dirty="0">
                <a:solidFill>
                  <a:srgbClr val="47556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7" name="Rectangle 47"/>
            <p:cNvSpPr/>
            <p:nvPr>
              <p:custDataLst>
                <p:tags r:id="rId14"/>
              </p:custDataLst>
            </p:nvPr>
          </p:nvSpPr>
          <p:spPr>
            <a:xfrm>
              <a:off x="6469380" y="4333240"/>
              <a:ext cx="5162550" cy="685800"/>
            </a:xfrm>
            <a:prstGeom prst="roundRect">
              <a:avLst>
                <a:gd name="adj" fmla="val 8333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48" name="TextBox 48"/>
            <p:cNvSpPr txBox="1"/>
            <p:nvPr>
              <p:custDataLst>
                <p:tags r:id="rId15"/>
              </p:custDataLst>
            </p:nvPr>
          </p:nvSpPr>
          <p:spPr>
            <a:xfrm>
              <a:off x="6597968" y="4238149"/>
              <a:ext cx="570833" cy="2013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065F46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反馈闭环</a:t>
              </a:r>
              <a:endParaRPr lang="zh-CN" sz="1400" b="1" dirty="0">
                <a:solidFill>
                  <a:srgbClr val="065F4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9" name="TextBox 49"/>
            <p:cNvSpPr txBox="1"/>
            <p:nvPr>
              <p:custDataLst>
                <p:tags r:id="rId16"/>
              </p:custDataLst>
            </p:nvPr>
          </p:nvSpPr>
          <p:spPr>
            <a:xfrm>
              <a:off x="6598992" y="4455925"/>
              <a:ext cx="4616153" cy="526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/>
              <a:r>
                <a:rPr lang="zh-CN" sz="1400" dirty="0">
                  <a:solidFill>
                    <a:srgbClr val="04785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反馈积累 → Prompt 优化 → 减少误报</a:t>
              </a:r>
              <a:endParaRPr lang="zh-CN" sz="1400" dirty="0">
                <a:solidFill>
                  <a:srgbClr val="04785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0" name="TextBox 50"/>
            <p:cNvSpPr txBox="1"/>
            <p:nvPr>
              <p:custDataLst>
                <p:tags r:id="rId17"/>
              </p:custDataLst>
            </p:nvPr>
          </p:nvSpPr>
          <p:spPr>
            <a:xfrm>
              <a:off x="6599977" y="4635328"/>
              <a:ext cx="1871280" cy="1722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形成持续自我改进的正向循环</a:t>
              </a:r>
              <a:endParaRPr lang="zh-CN" sz="12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2857500"/>
            <a:ext cx="12192000" cy="28575"/>
          </a:xfrm>
          <a:prstGeom prst="rect">
            <a:avLst/>
          </a:prstGeom>
          <a:gradFill>
            <a:gsLst>
              <a:gs pos="0">
                <a:srgbClr val="10B981">
                  <a:alpha val="0"/>
                </a:srgbClr>
              </a:gs>
              <a:gs pos="50000">
                <a:srgbClr val="10B981"/>
              </a:gs>
              <a:gs pos="100000">
                <a:srgbClr val="10B981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26914" y="2053590"/>
            <a:ext cx="2138172" cy="1356360"/>
            <a:chOff x="5026914" y="2053590"/>
            <a:chExt cx="2138172" cy="1356360"/>
          </a:xfrm>
        </p:grpSpPr>
        <p:sp>
          <p:nvSpPr>
            <p:cNvPr id="4" name="TextBox 4"/>
            <p:cNvSpPr txBox="1"/>
            <p:nvPr/>
          </p:nvSpPr>
          <p:spPr>
            <a:xfrm>
              <a:off x="5026914" y="2053590"/>
              <a:ext cx="213817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谢谢！</a:t>
              </a:r>
              <a:endParaRPr lang="zh-CN" sz="48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33035" y="3044190"/>
              <a:ext cx="17259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0B98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欢迎提问与交流</a:t>
              </a:r>
              <a:endParaRPr lang="zh-CN" sz="1800" dirty="0">
                <a:solidFill>
                  <a:srgbClr val="10B98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311586" y="3672364"/>
            <a:ext cx="356882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94A3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Insightor — AI 驱动的 GitHub PR 智能审查助手</a:t>
            </a:r>
            <a:endParaRPr lang="zh-CN" sz="1275" dirty="0">
              <a:solidFill>
                <a:srgbClr val="94A3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3839567" y="4145756"/>
            <a:ext cx="4514373" cy="990600"/>
            <a:chOff x="3838932" y="4164806"/>
            <a:chExt cx="4514373" cy="990600"/>
          </a:xfrm>
        </p:grpSpPr>
        <p:sp>
          <p:nvSpPr>
            <p:cNvPr id="8" name="TextBox 8"/>
            <p:cNvSpPr txBox="1"/>
            <p:nvPr/>
          </p:nvSpPr>
          <p:spPr>
            <a:xfrm>
              <a:off x="4058007" y="4164806"/>
              <a:ext cx="3987800" cy="2838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ctr"/>
              <a:r>
                <a:rPr lang="zh-CN" sz="1125" dirty="0">
                  <a:solidFill>
                    <a:srgbClr val="93C5F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🌐 Web 控制台：http://116.196.112.91:8000</a:t>
              </a:r>
              <a:endParaRPr lang="zh-CN" sz="1125" dirty="0">
                <a:solidFill>
                  <a:srgbClr val="93C5F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Freeform 9"/>
            <p:cNvSpPr/>
            <p:nvPr/>
          </p:nvSpPr>
          <p:spPr>
            <a:xfrm>
              <a:off x="4058285" y="4516572"/>
              <a:ext cx="190500" cy="186515"/>
            </a:xfrm>
            <a:custGeom>
              <a:avLst/>
              <a:gdLst/>
              <a:ahLst/>
              <a:cxnLst/>
              <a:rect l="l" t="t" r="r" b="b"/>
              <a:pathLst>
                <a:path w="190500" h="186515">
                  <a:moveTo>
                    <a:pt x="95250" y="0"/>
                  </a:moveTo>
                  <a:cubicBezTo>
                    <a:pt x="42624" y="0"/>
                    <a:pt x="0" y="42648"/>
                    <a:pt x="0" y="95250"/>
                  </a:cubicBezTo>
                  <a:cubicBezTo>
                    <a:pt x="0" y="137343"/>
                    <a:pt x="27289" y="173038"/>
                    <a:pt x="65127" y="185618"/>
                  </a:cubicBezTo>
                  <a:cubicBezTo>
                    <a:pt x="69890" y="186515"/>
                    <a:pt x="71636" y="183571"/>
                    <a:pt x="71636" y="181038"/>
                  </a:cubicBezTo>
                  <a:cubicBezTo>
                    <a:pt x="71636" y="178776"/>
                    <a:pt x="71557" y="172783"/>
                    <a:pt x="71517" y="164846"/>
                  </a:cubicBezTo>
                  <a:cubicBezTo>
                    <a:pt x="45022" y="170593"/>
                    <a:pt x="39433" y="152067"/>
                    <a:pt x="39433" y="152067"/>
                  </a:cubicBezTo>
                  <a:cubicBezTo>
                    <a:pt x="35100" y="141073"/>
                    <a:pt x="28837" y="138136"/>
                    <a:pt x="28837" y="138136"/>
                  </a:cubicBezTo>
                  <a:cubicBezTo>
                    <a:pt x="20209" y="132231"/>
                    <a:pt x="29504" y="132350"/>
                    <a:pt x="29504" y="132350"/>
                  </a:cubicBezTo>
                  <a:cubicBezTo>
                    <a:pt x="39068" y="133017"/>
                    <a:pt x="44093" y="142161"/>
                    <a:pt x="44093" y="142161"/>
                  </a:cubicBezTo>
                  <a:cubicBezTo>
                    <a:pt x="52586" y="156726"/>
                    <a:pt x="66389" y="152519"/>
                    <a:pt x="71834" y="150082"/>
                  </a:cubicBezTo>
                  <a:cubicBezTo>
                    <a:pt x="72692" y="143923"/>
                    <a:pt x="75144" y="139724"/>
                    <a:pt x="77867" y="137343"/>
                  </a:cubicBezTo>
                  <a:cubicBezTo>
                    <a:pt x="56713" y="134961"/>
                    <a:pt x="34481" y="126770"/>
                    <a:pt x="34481" y="90273"/>
                  </a:cubicBezTo>
                  <a:cubicBezTo>
                    <a:pt x="34481" y="79875"/>
                    <a:pt x="38171" y="71382"/>
                    <a:pt x="44283" y="64714"/>
                  </a:cubicBezTo>
                  <a:cubicBezTo>
                    <a:pt x="43212" y="62309"/>
                    <a:pt x="39997" y="52626"/>
                    <a:pt x="45117" y="39505"/>
                  </a:cubicBezTo>
                  <a:cubicBezTo>
                    <a:pt x="45117" y="39505"/>
                    <a:pt x="53094" y="36949"/>
                    <a:pt x="71311" y="49268"/>
                  </a:cubicBezTo>
                  <a:cubicBezTo>
                    <a:pt x="78930" y="47149"/>
                    <a:pt x="87027" y="46101"/>
                    <a:pt x="95123" y="46053"/>
                  </a:cubicBezTo>
                  <a:cubicBezTo>
                    <a:pt x="103219" y="46101"/>
                    <a:pt x="111316" y="47149"/>
                    <a:pt x="118936" y="49268"/>
                  </a:cubicBezTo>
                  <a:cubicBezTo>
                    <a:pt x="137033" y="36949"/>
                    <a:pt x="145010" y="39505"/>
                    <a:pt x="145010" y="39505"/>
                  </a:cubicBezTo>
                  <a:cubicBezTo>
                    <a:pt x="150130" y="52626"/>
                    <a:pt x="146915" y="62309"/>
                    <a:pt x="145963" y="64714"/>
                  </a:cubicBezTo>
                  <a:cubicBezTo>
                    <a:pt x="152035" y="71382"/>
                    <a:pt x="155726" y="79875"/>
                    <a:pt x="155726" y="90273"/>
                  </a:cubicBezTo>
                  <a:cubicBezTo>
                    <a:pt x="155726" y="126865"/>
                    <a:pt x="133461" y="134922"/>
                    <a:pt x="112268" y="137263"/>
                  </a:cubicBezTo>
                  <a:cubicBezTo>
                    <a:pt x="115602" y="140121"/>
                    <a:pt x="118697" y="145963"/>
                    <a:pt x="118697" y="154884"/>
                  </a:cubicBezTo>
                  <a:cubicBezTo>
                    <a:pt x="118697" y="167632"/>
                    <a:pt x="118578" y="177871"/>
                    <a:pt x="118578" y="180967"/>
                  </a:cubicBezTo>
                  <a:cubicBezTo>
                    <a:pt x="118578" y="183467"/>
                    <a:pt x="120245" y="186444"/>
                    <a:pt x="125127" y="185491"/>
                  </a:cubicBezTo>
                  <a:cubicBezTo>
                    <a:pt x="163235" y="172998"/>
                    <a:pt x="190500" y="137279"/>
                    <a:pt x="190500" y="95250"/>
                  </a:cubicBezTo>
                  <a:cubicBezTo>
                    <a:pt x="190500" y="42648"/>
                    <a:pt x="147852" y="0"/>
                    <a:pt x="95250" y="0"/>
                  </a:cubicBezTo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416742" y="4524216"/>
              <a:ext cx="39365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3C5F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GitHub：https://github.com/SCU-GuGuGaGa/Insightor</a:t>
              </a:r>
              <a:endParaRPr lang="zh-CN" sz="1125" dirty="0">
                <a:solidFill>
                  <a:srgbClr val="93C5F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38932" y="4926806"/>
              <a:ext cx="45141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93C5F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📺 Demo 视频：https://www.bilibili.com/video/BV1aTVQ6iEmM/</a:t>
              </a:r>
              <a:endParaRPr lang="zh-CN" sz="1125" dirty="0">
                <a:solidFill>
                  <a:srgbClr val="93C5F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13" name="Rectangle 13"/>
            <p:cNvSpPr/>
            <p:nvPr/>
          </p:nvSpPr>
          <p:spPr>
            <a:xfrm>
              <a:off x="0" y="6477000"/>
              <a:ext cx="12192000" cy="381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440037" y="6609874"/>
              <a:ext cx="13119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2026年6月 · 项目路演</a:t>
              </a:r>
              <a:endParaRPr lang="zh-CN" sz="975" dirty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267027" y="6522720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13 / 13</a:t>
            </a:r>
            <a:endParaRPr lang="zh-CN" sz="900" dirty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432.4,&quot;left&quot;:178.2,&quot;top&quot;:85,&quot;width&quot;:601.8}"/>
</p:tagLst>
</file>

<file path=ppt/tags/tag2.xml><?xml version="1.0" encoding="utf-8"?>
<p:tagLst xmlns:p="http://schemas.openxmlformats.org/presentationml/2006/main">
  <p:tag name="KSO_WM_DIAGRAM_VIRTUALLY_FRAME" val="{&quot;height&quot;:424.9,&quot;left&quot;:178.2,&quot;top&quot;:85,&quot;width&quot;:570.6}"/>
</p:tagLst>
</file>

<file path=ppt/tags/tag3.xml><?xml version="1.0" encoding="utf-8"?>
<p:tagLst xmlns:p="http://schemas.openxmlformats.org/presentationml/2006/main">
  <p:tag name="KSO_WM_DIAGRAM_VIRTUALLY_FRAME" val="{&quot;height&quot;:432.4,&quot;left&quot;:178.2,&quot;top&quot;:85,&quot;width&quot;:601.8}"/>
</p:tagLst>
</file>

<file path=ppt/tags/tag4.xml><?xml version="1.0" encoding="utf-8"?>
<p:tagLst xmlns:p="http://schemas.openxmlformats.org/presentationml/2006/main">
  <p:tag name="KSO_WM_DIAGRAM_VIRTUALLY_FRAME" val="{&quot;height&quot;:432.4,&quot;left&quot;:178.2,&quot;top&quot;:85,&quot;width&quot;:601.8}"/>
</p:tagLst>
</file>

<file path=ppt/tags/tag5.xml><?xml version="1.0" encoding="utf-8"?>
<p:tagLst xmlns:p="http://schemas.openxmlformats.org/presentationml/2006/main">
  <p:tag name="KSO_WM_DIAGRAM_VIRTUALLY_FRAME" val="{&quot;height&quot;:424.9,&quot;left&quot;:178.2,&quot;top&quot;:85,&quot;width&quot;:570.6}"/>
</p:tagLst>
</file>

<file path=ppt/tags/tag6.xml><?xml version="1.0" encoding="utf-8"?>
<p:tagLst xmlns:p="http://schemas.openxmlformats.org/presentationml/2006/main">
  <p:tag name="KSO_WM_DIAGRAM_VIRTUALLY_FRAME" val="{&quot;height&quot;:432.4,&quot;left&quot;:178.2,&quot;top&quot;:85,&quot;width&quot;:601.8}"/>
</p:tagLst>
</file>

<file path=ppt/tags/tag7.xml><?xml version="1.0" encoding="utf-8"?>
<p:tagLst xmlns:p="http://schemas.openxmlformats.org/presentationml/2006/main">
  <p:tag name="KSO_WM_DIAGRAM_VIRTUALLY_FRAME" val="{&quot;height&quot;:432.4,&quot;left&quot;:178.2,&quot;top&quot;:85,&quot;width&quot;:601.8}"/>
</p:tagLst>
</file>

<file path=ppt/tags/tag8.xml><?xml version="1.0" encoding="utf-8"?>
<p:tagLst xmlns:p="http://schemas.openxmlformats.org/presentationml/2006/main">
  <p:tag name="KSO_WM_DIAGRAM_VIRTUALLY_FRAME" val="{&quot;height&quot;:424.9,&quot;left&quot;:178.2,&quot;top&quot;:85,&quot;width&quot;:570.6}"/>
</p:tagLst>
</file>

<file path=ppt/tags/tag9.xml><?xml version="1.0" encoding="utf-8"?>
<p:tagLst xmlns:p="http://schemas.openxmlformats.org/presentationml/2006/main">
  <p:tag name="KSO_WM_DIAGRAM_VIRTUALLY_FRAME" val="{&quot;height&quot;:432.4,&quot;left&quot;:178.2,&quot;top&quot;:85,&quot;width&quot;:601.8}"/>
</p:tagLst>
</file>

<file path=ppt/tags/tag10.xml><?xml version="1.0" encoding="utf-8"?>
<p:tagLst xmlns:p="http://schemas.openxmlformats.org/presentationml/2006/main">
  <p:tag name="KSO_WM_DIAGRAM_VIRTUALLY_FRAME" val="{&quot;height&quot;:432.4,&quot;left&quot;:178.2,&quot;top&quot;:85,&quot;width&quot;:601.8}"/>
</p:tagLst>
</file>

<file path=ppt/tags/tag11.xml><?xml version="1.0" encoding="utf-8"?>
<p:tagLst xmlns:p="http://schemas.openxmlformats.org/presentationml/2006/main">
  <p:tag name="KSO_WM_DIAGRAM_VIRTUALLY_FRAME" val="{&quot;height&quot;:424.9,&quot;left&quot;:178.2,&quot;top&quot;:85,&quot;width&quot;:570.6}"/>
</p:tagLst>
</file>

<file path=ppt/tags/tag12.xml><?xml version="1.0" encoding="utf-8"?>
<p:tagLst xmlns:p="http://schemas.openxmlformats.org/presentationml/2006/main">
  <p:tag name="KSO_WM_DIAGRAM_VIRTUALLY_FRAME" val="{&quot;height&quot;:432.4,&quot;left&quot;:178.2,&quot;top&quot;:85,&quot;width&quot;:601.8}"/>
</p:tagLst>
</file>

<file path=ppt/tags/tag13.xml><?xml version="1.0" encoding="utf-8"?>
<p:tagLst xmlns:p="http://schemas.openxmlformats.org/presentationml/2006/main">
  <p:tag name="KSO_WM_DIAGRAM_VIRTUALLY_FRAME" val="{&quot;height&quot;:432.4,&quot;left&quot;:178.2,&quot;top&quot;:85,&quot;width&quot;:601.8}"/>
</p:tagLst>
</file>

<file path=ppt/tags/tag14.xml><?xml version="1.0" encoding="utf-8"?>
<p:tagLst xmlns:p="http://schemas.openxmlformats.org/presentationml/2006/main">
  <p:tag name="KSO_WM_DIAGRAM_VIRTUALLY_FRAME" val="{&quot;height&quot;:424.9,&quot;left&quot;:178.2,&quot;top&quot;:85,&quot;width&quot;:570.6}"/>
</p:tagLst>
</file>

<file path=ppt/tags/tag15.xml><?xml version="1.0" encoding="utf-8"?>
<p:tagLst xmlns:p="http://schemas.openxmlformats.org/presentationml/2006/main">
  <p:tag name="KSO_WM_DIAGRAM_VIRTUALLY_FRAME" val="{&quot;height&quot;:432.4,&quot;left&quot;:178.2,&quot;top&quot;:85,&quot;width&quot;:601.8}"/>
</p:tagLst>
</file>

<file path=ppt/tags/tag16.xml><?xml version="1.0" encoding="utf-8"?>
<p:tagLst xmlns:p="http://schemas.openxmlformats.org/presentationml/2006/main">
  <p:tag name="KSO_WM_DIAGRAM_VIRTUALLY_FRAME" val="{&quot;height&quot;:432.4,&quot;left&quot;:178.2,&quot;top&quot;:85,&quot;width&quot;:601.8}"/>
</p:tagLst>
</file>

<file path=ppt/tags/tag17.xml><?xml version="1.0" encoding="utf-8"?>
<p:tagLst xmlns:p="http://schemas.openxmlformats.org/presentationml/2006/main">
  <p:tag name="KSO_WM_DIAGRAM_VIRTUALLY_FRAME" val="{&quot;height&quot;:432.4,&quot;left&quot;:178.2,&quot;top&quot;:85,&quot;width&quot;:601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3004</Words>
  <Application>WPS 演示</Application>
  <PresentationFormat>On-screen Show (4:3)</PresentationFormat>
  <Paragraphs>381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Arial</vt:lpstr>
      <vt:lpstr>Segoe UI</vt:lpstr>
      <vt:lpstr>微软雅黑</vt:lpstr>
      <vt:lpstr>Arial Unicode MS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WPS_1760090326</cp:lastModifiedBy>
  <cp:revision>29</cp:revision>
  <dcterms:created xsi:type="dcterms:W3CDTF">2013-01-27T09:14:00Z</dcterms:created>
  <dcterms:modified xsi:type="dcterms:W3CDTF">2026-06-11T10:11:05Z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A717DE391B0A43A9971FE60F7307B4CB_12</vt:lpwstr>
  </property>
</Properties>
</file>